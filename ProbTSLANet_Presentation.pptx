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6"/>
  </p:notesMasterIdLst>
  <p:sldIdLst>
    <p:sldId id="279" r:id="rId2"/>
    <p:sldId id="270" r:id="rId3"/>
    <p:sldId id="301" r:id="rId4"/>
    <p:sldId id="285" r:id="rId5"/>
    <p:sldId id="287" r:id="rId6"/>
    <p:sldId id="291" r:id="rId7"/>
    <p:sldId id="292" r:id="rId8"/>
    <p:sldId id="297" r:id="rId9"/>
    <p:sldId id="298" r:id="rId10"/>
    <p:sldId id="293" r:id="rId11"/>
    <p:sldId id="264" r:id="rId12"/>
    <p:sldId id="265" r:id="rId13"/>
    <p:sldId id="294" r:id="rId14"/>
    <p:sldId id="267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A00520-B668-4787-BE12-70ED676BC8BE}" v="1" dt="2026-03-21T13:42:52.8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45" y="5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82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BottomAccent"/>
          <p:cNvSpPr/>
          <p:nvPr/>
        </p:nvSpPr>
        <p:spPr>
          <a:xfrm>
            <a:off x="0" y="4800600"/>
            <a:ext cx="9144000" cy="45720"/>
          </a:xfrm>
          <a:prstGeom prst="rect">
            <a:avLst/>
          </a:prstGeom>
          <a:solidFill>
            <a:srgbClr val="2B5797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1" name="TopAccent"/>
          <p:cNvSpPr/>
          <p:nvPr/>
        </p:nvSpPr>
        <p:spPr>
          <a:xfrm>
            <a:off x="457200" y="76200"/>
            <a:ext cx="8229600" cy="27432"/>
          </a:xfrm>
          <a:prstGeom prst="rect">
            <a:avLst/>
          </a:prstGeom>
          <a:solidFill>
            <a:srgbClr val="2B5797">
              <a:alpha val="30000"/>
            </a:srgbClr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rgbClr val="3D4F6F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rgbClr val="3D4F6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rgbClr val="3D4F6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rgbClr val="3D4F6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rgbClr val="3D4F6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3D4F6F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3D4F6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3D4F6F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rgbClr val="3D4F6F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151F6ED5-0312-4370-936B-4E2608B25350}"/>
              </a:ext>
            </a:extLst>
          </p:cNvPr>
          <p:cNvSpPr/>
          <p:nvPr/>
        </p:nvSpPr>
        <p:spPr>
          <a:xfrm>
            <a:off x="0" y="0"/>
            <a:ext cx="9144000" cy="1016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10C0D6B9-A0CE-4664-8F81-3670E3E4AF12}"/>
              </a:ext>
            </a:extLst>
          </p:cNvPr>
          <p:cNvSpPr txBox="1"/>
          <p:nvPr/>
        </p:nvSpPr>
        <p:spPr>
          <a:xfrm>
            <a:off x="762000" y="889000"/>
            <a:ext cx="7620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3600" b="1">
                <a:solidFill>
                  <a:srgbClr val="1B2A4A"/>
                </a:solidFill>
                <a:latin typeface="Georgia"/>
              </a:rPr>
              <a:t>ProbTSLANet</a:t>
            </a:r>
            <a:endParaRPr lang="zh-CN" altLang="en-US" sz="3600" b="1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4E4F4D1-5691-4062-890E-CDE78B2FCF26}"/>
              </a:ext>
            </a:extLst>
          </p:cNvPr>
          <p:cNvSpPr txBox="1"/>
          <p:nvPr/>
        </p:nvSpPr>
        <p:spPr>
          <a:xfrm>
            <a:off x="762000" y="1714500"/>
            <a:ext cx="7620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Probabilistic Time Series Forecasting
with Uncertainty Quantification</a:t>
            </a:r>
            <a:endParaRPr lang="zh-CN" altLang="en-US">
              <a:solidFill>
                <a:srgbClr val="3D4F6F"/>
              </a:solidFill>
              <a:latin typeface="Calibri"/>
              <a:cs typeface="Calibri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29C2DB1-8478-4EE4-B524-8F35A7AE604D}"/>
              </a:ext>
            </a:extLst>
          </p:cNvPr>
          <p:cNvSpPr/>
          <p:nvPr/>
        </p:nvSpPr>
        <p:spPr>
          <a:xfrm>
            <a:off x="762000" y="2540000"/>
            <a:ext cx="1524000" cy="381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3B56D6E-5FC3-475C-A843-6E46AAB0F0CB}"/>
              </a:ext>
            </a:extLst>
          </p:cNvPr>
          <p:cNvSpPr txBox="1"/>
          <p:nvPr/>
        </p:nvSpPr>
        <p:spPr>
          <a:xfrm>
            <a:off x="762000" y="2730500"/>
            <a:ext cx="508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COMP0197 Applied Deep Learning — Group Project</a:t>
            </a:r>
            <a:endParaRPr lang="zh-CN" altLang="en-US" sz="1400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178958B-88B9-4ACF-89C1-91F7E188F716}"/>
              </a:ext>
            </a:extLst>
          </p:cNvPr>
          <p:cNvSpPr txBox="1"/>
          <p:nvPr/>
        </p:nvSpPr>
        <p:spPr>
          <a:xfrm>
            <a:off x="762000" y="3048000"/>
            <a:ext cx="508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dirty="0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UCL Department of Computer Science</a:t>
            </a:r>
            <a:endParaRPr lang="zh-CN" altLang="en-US" sz="1400" dirty="0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837F099-697E-4D1F-8527-3B5F4F584EDE}"/>
              </a:ext>
            </a:extLst>
          </p:cNvPr>
          <p:cNvSpPr txBox="1"/>
          <p:nvPr/>
        </p:nvSpPr>
        <p:spPr>
          <a:xfrm>
            <a:off x="762000" y="3365500"/>
            <a:ext cx="5080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MSc Group Project 2025–26</a:t>
            </a:r>
            <a:endParaRPr lang="zh-CN" altLang="en-US" sz="1400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E2C6F155-8AA8-47A8-AF2F-8ED6B5EF9AF2}"/>
              </a:ext>
            </a:extLst>
          </p:cNvPr>
          <p:cNvSpPr/>
          <p:nvPr/>
        </p:nvSpPr>
        <p:spPr>
          <a:xfrm>
            <a:off x="762000" y="3746500"/>
            <a:ext cx="1841500" cy="825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8AA1FAB-A275-427A-8E17-0D5FE58B6566}"/>
              </a:ext>
            </a:extLst>
          </p:cNvPr>
          <p:cNvSpPr/>
          <p:nvPr/>
        </p:nvSpPr>
        <p:spPr>
          <a:xfrm>
            <a:off x="762000" y="3746500"/>
            <a:ext cx="38100" cy="8255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E6B3188D-0A03-497D-B78B-428285CD747E}"/>
              </a:ext>
            </a:extLst>
          </p:cNvPr>
          <p:cNvSpPr txBox="1"/>
          <p:nvPr/>
        </p:nvSpPr>
        <p:spPr>
          <a:xfrm>
            <a:off x="914400" y="3848100"/>
            <a:ext cx="1587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Architecture</a:t>
            </a:r>
            <a:endParaRPr lang="zh-CN" altLang="en-US" sz="1400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D4D831FC-C27E-4DB8-9025-39A46CFA11D3}"/>
              </a:ext>
            </a:extLst>
          </p:cNvPr>
          <p:cNvSpPr txBox="1"/>
          <p:nvPr/>
        </p:nvSpPr>
        <p:spPr>
          <a:xfrm>
            <a:off x="914400" y="4127500"/>
            <a:ext cx="1587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TSLANet + Gaussian Heads</a:t>
            </a:r>
            <a:endParaRPr lang="zh-CN" altLang="en-US" sz="1400" b="1">
              <a:solidFill>
                <a:srgbClr val="1B2A4A"/>
              </a:solidFill>
              <a:latin typeface="Calibri"/>
              <a:cs typeface="Calibri"/>
            </a:endParaRPr>
          </a:p>
        </p:txBody>
      </p:sp>
      <p:sp>
        <p:nvSpPr>
          <p:cNvPr id="41" name="矩形: 圆角 40">
            <a:extLst>
              <a:ext uri="{FF2B5EF4-FFF2-40B4-BE49-F238E27FC236}">
                <a16:creationId xmlns:a16="http://schemas.microsoft.com/office/drawing/2014/main" id="{101BDE69-13B4-4F1A-B39C-123476D0478E}"/>
              </a:ext>
            </a:extLst>
          </p:cNvPr>
          <p:cNvSpPr/>
          <p:nvPr/>
        </p:nvSpPr>
        <p:spPr>
          <a:xfrm>
            <a:off x="2755900" y="3746500"/>
            <a:ext cx="1841500" cy="825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76DB679-A0F8-4FEA-9E89-DCF4FECF9CE4}"/>
              </a:ext>
            </a:extLst>
          </p:cNvPr>
          <p:cNvSpPr/>
          <p:nvPr/>
        </p:nvSpPr>
        <p:spPr>
          <a:xfrm>
            <a:off x="2755900" y="3746500"/>
            <a:ext cx="38100" cy="8255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F85723B-94B7-40F1-8740-965FAB8D3B20}"/>
              </a:ext>
            </a:extLst>
          </p:cNvPr>
          <p:cNvSpPr txBox="1"/>
          <p:nvPr/>
        </p:nvSpPr>
        <p:spPr>
          <a:xfrm>
            <a:off x="2908300" y="3848100"/>
            <a:ext cx="1587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Dataset</a:t>
            </a:r>
            <a:endParaRPr lang="zh-CN" altLang="en-US" sz="1400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3B04BCC-99C3-44E8-A1AB-DC4243A4FEFA}"/>
              </a:ext>
            </a:extLst>
          </p:cNvPr>
          <p:cNvSpPr txBox="1"/>
          <p:nvPr/>
        </p:nvSpPr>
        <p:spPr>
          <a:xfrm>
            <a:off x="2908300" y="4127500"/>
            <a:ext cx="1587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Weather (21 vars)</a:t>
            </a:r>
            <a:endParaRPr lang="zh-CN" altLang="en-US" sz="1400" b="1">
              <a:solidFill>
                <a:srgbClr val="1B2A4A"/>
              </a:solidFill>
              <a:latin typeface="Calibri"/>
              <a:cs typeface="Calibri"/>
            </a:endParaRPr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633D4162-DC81-4A03-8324-741EB0967C0B}"/>
              </a:ext>
            </a:extLst>
          </p:cNvPr>
          <p:cNvSpPr/>
          <p:nvPr/>
        </p:nvSpPr>
        <p:spPr>
          <a:xfrm>
            <a:off x="4749800" y="3746500"/>
            <a:ext cx="1841500" cy="825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410A532-E0D4-4F00-9AD0-69D7CEFB81BA}"/>
              </a:ext>
            </a:extLst>
          </p:cNvPr>
          <p:cNvSpPr/>
          <p:nvPr/>
        </p:nvSpPr>
        <p:spPr>
          <a:xfrm>
            <a:off x="4749800" y="3746500"/>
            <a:ext cx="38100" cy="8255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3C456A8-FA34-4DA9-884C-B34495EDAE31}"/>
              </a:ext>
            </a:extLst>
          </p:cNvPr>
          <p:cNvSpPr txBox="1"/>
          <p:nvPr/>
        </p:nvSpPr>
        <p:spPr>
          <a:xfrm>
            <a:off x="4902200" y="3848100"/>
            <a:ext cx="1587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Uncertainty</a:t>
            </a:r>
            <a:endParaRPr lang="zh-CN" altLang="en-US" sz="1400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3777A228-4316-47D3-B5D6-1792DB8BA23E}"/>
              </a:ext>
            </a:extLst>
          </p:cNvPr>
          <p:cNvSpPr txBox="1"/>
          <p:nvPr/>
        </p:nvSpPr>
        <p:spPr>
          <a:xfrm>
            <a:off x="4902200" y="4127500"/>
            <a:ext cx="1587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4 Configs (A1–A4)</a:t>
            </a:r>
            <a:endParaRPr lang="zh-CN" altLang="en-US" sz="1400" b="1">
              <a:solidFill>
                <a:srgbClr val="1B2A4A"/>
              </a:solidFill>
              <a:latin typeface="Calibri"/>
              <a:cs typeface="Calibri"/>
            </a:endParaRP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3E708ED3-8B77-4ABE-BE24-28159C331A4A}"/>
              </a:ext>
            </a:extLst>
          </p:cNvPr>
          <p:cNvSpPr/>
          <p:nvPr/>
        </p:nvSpPr>
        <p:spPr>
          <a:xfrm>
            <a:off x="6743700" y="3746500"/>
            <a:ext cx="1841500" cy="825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862E8CC-DC46-4A94-8DCF-2FDB129E4481}"/>
              </a:ext>
            </a:extLst>
          </p:cNvPr>
          <p:cNvSpPr/>
          <p:nvPr/>
        </p:nvSpPr>
        <p:spPr>
          <a:xfrm>
            <a:off x="6743700" y="3746500"/>
            <a:ext cx="38100" cy="8255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60EDC63-5D9E-4828-92FB-1BBF7CE61B02}"/>
              </a:ext>
            </a:extLst>
          </p:cNvPr>
          <p:cNvSpPr txBox="1"/>
          <p:nvPr/>
        </p:nvSpPr>
        <p:spPr>
          <a:xfrm>
            <a:off x="6896100" y="3848100"/>
            <a:ext cx="1587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Horizons</a:t>
            </a:r>
            <a:endParaRPr lang="zh-CN" altLang="en-US" sz="1400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902BD18-CFF7-4E09-BD8C-D95414B52D64}"/>
              </a:ext>
            </a:extLst>
          </p:cNvPr>
          <p:cNvSpPr txBox="1"/>
          <p:nvPr/>
        </p:nvSpPr>
        <p:spPr>
          <a:xfrm>
            <a:off x="6896100" y="4127500"/>
            <a:ext cx="15875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 dirty="0">
                <a:solidFill>
                  <a:srgbClr val="1B2A4A"/>
                </a:solidFill>
                <a:latin typeface="Calibri"/>
                <a:ea typeface="Calibri"/>
                <a:cs typeface="Calibri"/>
              </a:rPr>
              <a:t>96 &amp; 336</a:t>
            </a:r>
            <a:endParaRPr lang="zh-CN" altLang="en-US" sz="1400" b="1" dirty="0">
              <a:solidFill>
                <a:srgbClr val="1B2A4A"/>
              </a:solidFill>
              <a:latin typeface="Calibri"/>
              <a:cs typeface="Calibri"/>
            </a:endParaRPr>
          </a:p>
        </p:txBody>
      </p:sp>
      <p:pic>
        <p:nvPicPr>
          <p:cNvPr id="53" name="Graphic 53" descr="Scientific thought ic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74000" y="952500"/>
            <a:ext cx="68580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440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40D1166C-6E81-42C9-B2CE-94AB7443C0CC}"/>
              </a:ext>
            </a:extLst>
          </p:cNvPr>
          <p:cNvSpPr txBox="1"/>
          <p:nvPr/>
        </p:nvSpPr>
        <p:spPr>
          <a:xfrm>
            <a:off x="635000" y="254000"/>
            <a:ext cx="7874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1B2A4A"/>
                </a:solidFill>
                <a:latin typeface="Georgia"/>
              </a:rPr>
              <a:t>Motivation &amp; Problem Statement</a:t>
            </a:r>
            <a:endParaRPr lang="zh-CN" altLang="en-US" sz="2400" b="1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11D9A7-08AF-4D96-9D25-E44FD87EBFD1}"/>
              </a:ext>
            </a:extLst>
          </p:cNvPr>
          <p:cNvSpPr/>
          <p:nvPr/>
        </p:nvSpPr>
        <p:spPr>
          <a:xfrm>
            <a:off x="635000" y="825500"/>
            <a:ext cx="1016000" cy="381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7E25F6D-4AEC-46A8-92F6-FD59D281392B}"/>
              </a:ext>
            </a:extLst>
          </p:cNvPr>
          <p:cNvSpPr/>
          <p:nvPr/>
        </p:nvSpPr>
        <p:spPr>
          <a:xfrm>
            <a:off x="635000" y="1079500"/>
            <a:ext cx="3810000" cy="31750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5A5F8D8-6B12-4976-B4AF-BF3F4463CFB7}"/>
              </a:ext>
            </a:extLst>
          </p:cNvPr>
          <p:cNvSpPr/>
          <p:nvPr/>
        </p:nvSpPr>
        <p:spPr>
          <a:xfrm>
            <a:off x="635000" y="1079500"/>
            <a:ext cx="50800" cy="31750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FAB3F306-8826-4D50-85F8-8B062E75FB98}"/>
              </a:ext>
            </a:extLst>
          </p:cNvPr>
          <p:cNvSpPr txBox="1"/>
          <p:nvPr/>
        </p:nvSpPr>
        <p:spPr>
          <a:xfrm>
            <a:off x="863600" y="12065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600" b="1" dirty="0">
                <a:solidFill>
                  <a:srgbClr val="C0392B"/>
                </a:solidFill>
                <a:latin typeface="Georgia"/>
              </a:rPr>
              <a:t>The Gap in Standard Forecasting</a:t>
            </a:r>
            <a:endParaRPr lang="zh-CN" altLang="en-US" sz="1600" b="1" dirty="0">
              <a:solidFill>
                <a:srgbClr val="C0392B"/>
              </a:solidFill>
              <a:latin typeface="Georgi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ED40769-BD4D-4BCF-BA86-E2E0BF412D47}"/>
              </a:ext>
            </a:extLst>
          </p:cNvPr>
          <p:cNvSpPr txBox="1"/>
          <p:nvPr/>
        </p:nvSpPr>
        <p:spPr>
          <a:xfrm>
            <a:off x="863600" y="1714500"/>
            <a:ext cx="3429000" cy="241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Deterministic models produce a single point estimate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No quantification of prediction confidence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Cannot distinguish data noise from model ignorance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Unsafe for high-stakes decision-making (energy, weather)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2A1E7EC-5AC1-4BCC-AC57-1BF8FCAF93D5}"/>
              </a:ext>
            </a:extLst>
          </p:cNvPr>
          <p:cNvSpPr/>
          <p:nvPr/>
        </p:nvSpPr>
        <p:spPr>
          <a:xfrm>
            <a:off x="4699000" y="1079500"/>
            <a:ext cx="3810000" cy="31750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D96838A-17DC-468F-9BB5-4FE43A0F4667}"/>
              </a:ext>
            </a:extLst>
          </p:cNvPr>
          <p:cNvSpPr/>
          <p:nvPr/>
        </p:nvSpPr>
        <p:spPr>
          <a:xfrm>
            <a:off x="4699000" y="1079500"/>
            <a:ext cx="50800" cy="3175000"/>
          </a:xfrm>
          <a:prstGeom prst="rect">
            <a:avLst/>
          </a:prstGeom>
          <a:solidFill>
            <a:srgbClr val="1A7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7A98583-9617-4AEA-A271-8A53DF11FCFD}"/>
              </a:ext>
            </a:extLst>
          </p:cNvPr>
          <p:cNvSpPr txBox="1"/>
          <p:nvPr/>
        </p:nvSpPr>
        <p:spPr>
          <a:xfrm>
            <a:off x="4927600" y="12065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600" b="1">
                <a:solidFill>
                  <a:srgbClr val="1A7A5C"/>
                </a:solidFill>
                <a:latin typeface="Georgia"/>
              </a:rPr>
              <a:t>Our Approach: Probabilistic Output</a:t>
            </a:r>
            <a:endParaRPr lang="zh-CN" altLang="en-US" sz="1600" b="1">
              <a:solidFill>
                <a:srgbClr val="1A7A5C"/>
              </a:solidFill>
              <a:latin typeface="Georgi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E116B9A-8BA6-4734-9644-BE62D7887EB6}"/>
              </a:ext>
            </a:extLst>
          </p:cNvPr>
          <p:cNvSpPr txBox="1"/>
          <p:nvPr/>
        </p:nvSpPr>
        <p:spPr>
          <a:xfrm>
            <a:off x="4927600" y="1714500"/>
            <a:ext cx="3429000" cy="2413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Output a full predictive distribution, not a single value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Decompose uncertainty into aleatoric (data) vs epistemic (model)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Gaussian NLL head for heteroscedastic noise modelling</a:t>
            </a:r>
          </a:p>
          <a:p>
            <a:pPr marL="228600" indent="-228600">
              <a:spcAft>
                <a:spcPts val="8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MC Dropout (Gal &amp; Ghahramani, 2016) for epistemic uncertainty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A71E084-747C-4CBD-93A4-E5A216E9E20D}"/>
              </a:ext>
            </a:extLst>
          </p:cNvPr>
          <p:cNvSpPr txBox="1"/>
          <p:nvPr/>
        </p:nvSpPr>
        <p:spPr>
          <a:xfrm>
            <a:off x="635000" y="4826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9BA7B4"/>
                </a:solidFill>
                <a:latin typeface="Calibri"/>
                <a:ea typeface="Calibri"/>
                <a:cs typeface="Calibri"/>
              </a:rPr>
              <a:t>ProbTSLANet — Motivation</a:t>
            </a:r>
            <a:endParaRPr lang="zh-CN" altLang="en-US" sz="1400">
              <a:solidFill>
                <a:srgbClr val="9BA7B4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374178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文本框 31">
            <a:extLst>
              <a:ext uri="{FF2B5EF4-FFF2-40B4-BE49-F238E27FC236}">
                <a16:creationId xmlns:a16="http://schemas.microsoft.com/office/drawing/2014/main" id="{BB1D9B86-04FB-46CB-A6BB-6A5D4DE4D79B}"/>
              </a:ext>
            </a:extLst>
          </p:cNvPr>
          <p:cNvSpPr txBox="1"/>
          <p:nvPr/>
        </p:nvSpPr>
        <p:spPr>
          <a:xfrm>
            <a:off x="635000" y="279400"/>
            <a:ext cx="7747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200" b="1" dirty="0">
                <a:solidFill>
                  <a:srgbClr val="1A2744"/>
                </a:solidFill>
                <a:latin typeface="Cambria"/>
                <a:ea typeface="Cambria"/>
              </a:rPr>
              <a:t>Dataset: Weather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C7447427-8ABB-467A-B36C-0AF67E3357ED}"/>
              </a:ext>
            </a:extLst>
          </p:cNvPr>
          <p:cNvSpPr/>
          <p:nvPr/>
        </p:nvSpPr>
        <p:spPr>
          <a:xfrm>
            <a:off x="635000" y="736600"/>
            <a:ext cx="635000" cy="38100"/>
          </a:xfrm>
          <a:solidFill>
            <a:srgbClr val="2B5797"/>
          </a:solidFill>
          <a:ln w="12700" cap="flat" cmpd="sng" algn="ctr"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4C292F96-501B-40A0-9C98-0B28B8AFE2E5}"/>
              </a:ext>
            </a:extLst>
          </p:cNvPr>
          <p:cNvSpPr txBox="1"/>
          <p:nvPr/>
        </p:nvSpPr>
        <p:spPr>
          <a:xfrm>
            <a:off x="635000" y="825500"/>
            <a:ext cx="787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100" i="1" dirty="0">
                <a:solidFill>
                  <a:srgbClr val="4A5668"/>
                </a:solidFill>
                <a:latin typeface="Cambria"/>
                <a:ea typeface="Cambria"/>
              </a:rPr>
              <a:t>Multivariate hourly weather observations — a rich benchmark for probabilistic forecasting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FF5DE547-C07C-4D3F-B6DF-438E785FED8C}"/>
              </a:ext>
            </a:extLst>
          </p:cNvPr>
          <p:cNvSpPr/>
          <p:nvPr/>
        </p:nvSpPr>
        <p:spPr>
          <a:xfrm>
            <a:off x="635000" y="1219200"/>
            <a:ext cx="1841500" cy="1397000"/>
          </a:xfrm>
          <a:solidFill>
            <a:srgbClr val="F4F7FA"/>
          </a:solidFill>
          <a:ln w="9525">
            <a:solidFill>
              <a:srgbClr val="D8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D85973F3-D618-41A8-915D-0DC0FAE6DA7A}"/>
              </a:ext>
            </a:extLst>
          </p:cNvPr>
          <p:cNvSpPr txBox="1"/>
          <p:nvPr/>
        </p:nvSpPr>
        <p:spPr>
          <a:xfrm>
            <a:off x="736600" y="1346200"/>
            <a:ext cx="16383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2B5797"/>
                </a:solidFill>
                <a:latin typeface="Cambria"/>
                <a:ea typeface="Cambria"/>
              </a:rPr>
              <a:t>21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4C4AC97-B36D-40DD-96CF-3BA1E63CF13A}"/>
              </a:ext>
            </a:extLst>
          </p:cNvPr>
          <p:cNvSpPr txBox="1"/>
          <p:nvPr/>
        </p:nvSpPr>
        <p:spPr>
          <a:xfrm>
            <a:off x="736600" y="1828800"/>
            <a:ext cx="16383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altLang="zh-CN" sz="1000" b="1" spc="80" dirty="0">
                <a:solidFill>
                  <a:srgbClr val="1A2744"/>
                </a:solidFill>
                <a:latin typeface="Calibri"/>
                <a:ea typeface="Calibri"/>
              </a:rPr>
              <a:t>VARIABLES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93CA2C7-B368-47F2-A95E-A594F2144AA0}"/>
              </a:ext>
            </a:extLst>
          </p:cNvPr>
          <p:cNvSpPr txBox="1"/>
          <p:nvPr/>
        </p:nvSpPr>
        <p:spPr>
          <a:xfrm>
            <a:off x="736600" y="2159000"/>
            <a:ext cx="16383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4A5668"/>
                </a:solidFill>
                <a:latin typeface="Calibri"/>
                <a:ea typeface="Calibri"/>
              </a:rPr>
              <a:t>Multivariate (M)</a:t>
            </a:r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4371D25B-5B7D-46EB-B248-C7D0E087947F}"/>
              </a:ext>
            </a:extLst>
          </p:cNvPr>
          <p:cNvSpPr/>
          <p:nvPr/>
        </p:nvSpPr>
        <p:spPr>
          <a:xfrm>
            <a:off x="2641600" y="1219200"/>
            <a:ext cx="1841500" cy="1397000"/>
          </a:xfrm>
          <a:solidFill>
            <a:srgbClr val="F4F7FA"/>
          </a:solidFill>
          <a:ln w="9525">
            <a:solidFill>
              <a:srgbClr val="D8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F5CD06B-C77E-4B15-9AB6-4794FE2C6678}"/>
              </a:ext>
            </a:extLst>
          </p:cNvPr>
          <p:cNvSpPr txBox="1"/>
          <p:nvPr/>
        </p:nvSpPr>
        <p:spPr>
          <a:xfrm>
            <a:off x="2743200" y="1346200"/>
            <a:ext cx="16383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2B5797"/>
                </a:solidFill>
                <a:latin typeface="Cambria"/>
                <a:ea typeface="Cambria"/>
              </a:rPr>
              <a:t>52,696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819207AD-7CF6-469E-839A-C22A60C0C332}"/>
              </a:ext>
            </a:extLst>
          </p:cNvPr>
          <p:cNvSpPr txBox="1"/>
          <p:nvPr/>
        </p:nvSpPr>
        <p:spPr>
          <a:xfrm>
            <a:off x="2743200" y="1828800"/>
            <a:ext cx="16383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altLang="zh-CN" sz="1000" b="1" spc="80" dirty="0">
                <a:solidFill>
                  <a:srgbClr val="1A2744"/>
                </a:solidFill>
                <a:latin typeface="Calibri"/>
                <a:ea typeface="Calibri"/>
              </a:rPr>
              <a:t>TIMESTEPS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D71CEE8-FC75-4A7A-B5AE-CB00162DFB87}"/>
              </a:ext>
            </a:extLst>
          </p:cNvPr>
          <p:cNvSpPr txBox="1"/>
          <p:nvPr/>
        </p:nvSpPr>
        <p:spPr>
          <a:xfrm>
            <a:off x="2743200" y="2159000"/>
            <a:ext cx="16383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4A5668"/>
                </a:solidFill>
                <a:latin typeface="Calibri"/>
                <a:ea typeface="Calibri"/>
              </a:rPr>
              <a:t>Hourly resolution</a:t>
            </a:r>
          </a:p>
        </p:txBody>
      </p:sp>
      <p:sp>
        <p:nvSpPr>
          <p:cNvPr id="43" name="矩形: 圆角 42">
            <a:extLst>
              <a:ext uri="{FF2B5EF4-FFF2-40B4-BE49-F238E27FC236}">
                <a16:creationId xmlns:a16="http://schemas.microsoft.com/office/drawing/2014/main" id="{CA31DDF5-B66B-45CD-9BC6-96D7DF959655}"/>
              </a:ext>
            </a:extLst>
          </p:cNvPr>
          <p:cNvSpPr/>
          <p:nvPr/>
        </p:nvSpPr>
        <p:spPr>
          <a:xfrm>
            <a:off x="4660900" y="1219200"/>
            <a:ext cx="1841500" cy="1397000"/>
          </a:xfrm>
          <a:solidFill>
            <a:srgbClr val="F4F7FA"/>
          </a:solidFill>
          <a:ln w="9525">
            <a:solidFill>
              <a:srgbClr val="D8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B7222858-C07C-4FEA-BE76-6ED19B43A033}"/>
              </a:ext>
            </a:extLst>
          </p:cNvPr>
          <p:cNvSpPr txBox="1"/>
          <p:nvPr/>
        </p:nvSpPr>
        <p:spPr>
          <a:xfrm>
            <a:off x="4762500" y="1346200"/>
            <a:ext cx="16383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2B5797"/>
                </a:solidFill>
                <a:latin typeface="Cambria"/>
                <a:ea typeface="Cambria"/>
              </a:rPr>
              <a:t>70/10/20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B4AFB60-363B-4FE4-8751-A55F71C87DDB}"/>
              </a:ext>
            </a:extLst>
          </p:cNvPr>
          <p:cNvSpPr txBox="1"/>
          <p:nvPr/>
        </p:nvSpPr>
        <p:spPr>
          <a:xfrm>
            <a:off x="4762500" y="1828800"/>
            <a:ext cx="16383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altLang="zh-CN" sz="1000" b="1" spc="80" dirty="0">
                <a:solidFill>
                  <a:srgbClr val="1A2744"/>
                </a:solidFill>
                <a:latin typeface="Calibri"/>
                <a:ea typeface="Calibri"/>
              </a:rPr>
              <a:t>TRAIN / VAL / TEST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1A5C838-0F2B-4584-BE7B-3751E8A928C1}"/>
              </a:ext>
            </a:extLst>
          </p:cNvPr>
          <p:cNvSpPr txBox="1"/>
          <p:nvPr/>
        </p:nvSpPr>
        <p:spPr>
          <a:xfrm>
            <a:off x="4762500" y="2159000"/>
            <a:ext cx="16383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4A5668"/>
                </a:solidFill>
                <a:latin typeface="Calibri"/>
                <a:ea typeface="Calibri"/>
              </a:rPr>
              <a:t>Standard split</a:t>
            </a: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190E3DA4-7234-4AD3-AB2A-BF4BD932D603}"/>
              </a:ext>
            </a:extLst>
          </p:cNvPr>
          <p:cNvSpPr/>
          <p:nvPr/>
        </p:nvSpPr>
        <p:spPr>
          <a:xfrm>
            <a:off x="6667500" y="1219200"/>
            <a:ext cx="1841500" cy="1397000"/>
          </a:xfrm>
          <a:solidFill>
            <a:srgbClr val="F4F7FA"/>
          </a:solidFill>
          <a:ln w="9525">
            <a:solidFill>
              <a:srgbClr val="D8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F8C817C-44DB-4A1C-A135-480270EC49CF}"/>
              </a:ext>
            </a:extLst>
          </p:cNvPr>
          <p:cNvSpPr txBox="1"/>
          <p:nvPr/>
        </p:nvSpPr>
        <p:spPr>
          <a:xfrm>
            <a:off x="6769100" y="1346200"/>
            <a:ext cx="1638300" cy="431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altLang="zh-CN" sz="2200" b="1" dirty="0">
                <a:solidFill>
                  <a:srgbClr val="2B5797"/>
                </a:solidFill>
                <a:latin typeface="Cambria"/>
                <a:ea typeface="Cambria"/>
              </a:rPr>
              <a:t>1 hour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981AA7E9-E972-484B-B948-DD16A9636909}"/>
              </a:ext>
            </a:extLst>
          </p:cNvPr>
          <p:cNvSpPr txBox="1"/>
          <p:nvPr/>
        </p:nvSpPr>
        <p:spPr>
          <a:xfrm>
            <a:off x="6769100" y="1828800"/>
            <a:ext cx="1638300" cy="279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altLang="zh-CN" sz="1000" b="1" spc="80" dirty="0">
                <a:solidFill>
                  <a:srgbClr val="1A2744"/>
                </a:solidFill>
                <a:latin typeface="Calibri"/>
                <a:ea typeface="Calibri"/>
              </a:rPr>
              <a:t>FREQUENCY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B8EC4F5-939C-4315-9F9B-A763A6F74FF1}"/>
              </a:ext>
            </a:extLst>
          </p:cNvPr>
          <p:cNvSpPr txBox="1"/>
          <p:nvPr/>
        </p:nvSpPr>
        <p:spPr>
          <a:xfrm>
            <a:off x="6769100" y="2159000"/>
            <a:ext cx="1638300" cy="304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ctr"/>
            <a:r>
              <a:rPr lang="en-US" altLang="zh-CN" sz="1000" dirty="0">
                <a:solidFill>
                  <a:srgbClr val="4A5668"/>
                </a:solidFill>
                <a:latin typeface="Calibri"/>
                <a:ea typeface="Calibri"/>
              </a:rPr>
              <a:t>Temporal resolution</a:t>
            </a:r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EB09C041-1384-456C-BB6C-E2FB796E0ECB}"/>
              </a:ext>
            </a:extLst>
          </p:cNvPr>
          <p:cNvSpPr/>
          <p:nvPr/>
        </p:nvSpPr>
        <p:spPr>
          <a:xfrm>
            <a:off x="635000" y="2870200"/>
            <a:ext cx="7874000" cy="1397000"/>
          </a:xfrm>
          <a:solidFill>
            <a:srgbClr val="F0F4F8"/>
          </a:solidFill>
          <a:ln w="9525">
            <a:solidFill>
              <a:srgbClr val="D8E1E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5835C8C-C8AA-4CDF-AC0A-B50A629E194F}"/>
              </a:ext>
            </a:extLst>
          </p:cNvPr>
          <p:cNvSpPr/>
          <p:nvPr/>
        </p:nvSpPr>
        <p:spPr>
          <a:xfrm>
            <a:off x="635000" y="2870200"/>
            <a:ext cx="50800" cy="1397000"/>
          </a:xfrm>
          <a:solidFill>
            <a:srgbClr val="2B5797"/>
          </a:solidFill>
          <a:ln w="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8334C4C-B48C-4584-92DF-5FEAC25D8825}"/>
              </a:ext>
            </a:extLst>
          </p:cNvPr>
          <p:cNvSpPr txBox="1"/>
          <p:nvPr/>
        </p:nvSpPr>
        <p:spPr>
          <a:xfrm>
            <a:off x="863600" y="29972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b="1" spc="50" dirty="0">
                <a:solidFill>
                  <a:srgbClr val="2B5797"/>
                </a:solidFill>
                <a:latin typeface="Cambria"/>
                <a:ea typeface="Cambria"/>
              </a:rPr>
              <a:t>DATA PIPELINE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52D8639-51B7-46AB-A885-B9C745C24FCB}"/>
              </a:ext>
            </a:extLst>
          </p:cNvPr>
          <p:cNvSpPr txBox="1"/>
          <p:nvPr/>
        </p:nvSpPr>
        <p:spPr>
          <a:xfrm>
            <a:off x="863600" y="3302000"/>
            <a:ext cx="74930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>
              <a:lnSpc>
                <a:spcPts val="2000"/>
              </a:lnSpc>
              <a:spcBef>
                <a:spcPts val="100"/>
              </a:spcBef>
            </a:pPr>
            <a:r>
              <a:rPr lang="en-US" altLang="zh-CN" sz="1050" dirty="0">
                <a:solidFill>
                  <a:srgbClr val="4A5668"/>
                </a:solidFill>
                <a:latin typeface="Calibri"/>
                <a:ea typeface="Calibri"/>
              </a:rPr>
              <a:t>1.  </a:t>
            </a:r>
            <a:r>
              <a:rPr lang="en-US" altLang="zh-CN" sz="1050" b="1" dirty="0">
                <a:solidFill>
                  <a:srgbClr val="1A2744"/>
                </a:solidFill>
                <a:latin typeface="Consolas"/>
                <a:ea typeface="Consolas"/>
              </a:rPr>
              <a:t>StandardScaler</a:t>
            </a:r>
            <a:r>
              <a:rPr lang="en-US" altLang="zh-CN" sz="1050" dirty="0">
                <a:solidFill>
                  <a:srgbClr val="4A5668"/>
                </a:solidFill>
                <a:latin typeface="Calibri"/>
                <a:ea typeface="Calibri"/>
              </a:rPr>
              <a:t>  per variable  (fit on train split)</a:t>
            </a:r>
          </a:p>
          <a:p>
            <a:pPr algn="l">
              <a:lnSpc>
                <a:spcPts val="2000"/>
              </a:lnSpc>
            </a:pPr>
            <a:r>
              <a:rPr lang="en-US" altLang="zh-CN" sz="1050" dirty="0">
                <a:solidFill>
                  <a:srgbClr val="4A5668"/>
                </a:solidFill>
                <a:latin typeface="Calibri"/>
                <a:ea typeface="Calibri"/>
              </a:rPr>
              <a:t>2.  Temporal features via </a:t>
            </a:r>
            <a:r>
              <a:rPr lang="en-US" altLang="zh-CN" sz="1050" b="1" dirty="0">
                <a:solidFill>
                  <a:srgbClr val="1A2744"/>
                </a:solidFill>
                <a:latin typeface="Consolas"/>
                <a:ea typeface="Consolas"/>
              </a:rPr>
              <a:t>GluonTS</a:t>
            </a:r>
            <a:r>
              <a:rPr lang="en-US" altLang="zh-CN" sz="1050" dirty="0">
                <a:solidFill>
                  <a:srgbClr val="4A5668"/>
                </a:solidFill>
                <a:latin typeface="Calibri"/>
                <a:ea typeface="Calibri"/>
              </a:rPr>
              <a:t>  (hour, day, month)</a:t>
            </a:r>
          </a:p>
          <a:p>
            <a:pPr algn="l">
              <a:lnSpc>
                <a:spcPts val="2000"/>
              </a:lnSpc>
            </a:pPr>
            <a:r>
              <a:rPr lang="en-US" altLang="zh-CN" sz="1050" dirty="0">
                <a:solidFill>
                  <a:srgbClr val="4A5668"/>
                </a:solidFill>
                <a:latin typeface="Calibri"/>
                <a:ea typeface="Calibri"/>
              </a:rPr>
              <a:t>3.  Sliding window:  </a:t>
            </a:r>
            <a:r>
              <a:rPr lang="en-US" altLang="zh-CN" sz="1050" b="1" dirty="0">
                <a:solidFill>
                  <a:srgbClr val="1A2744"/>
                </a:solidFill>
                <a:latin typeface="Consolas"/>
                <a:ea typeface="Consolas"/>
              </a:rPr>
              <a:t>seq_len</a:t>
            </a:r>
            <a:r>
              <a:rPr lang="en-US" altLang="zh-CN" sz="1050" dirty="0">
                <a:solidFill>
                  <a:srgbClr val="4A5668"/>
                </a:solidFill>
                <a:latin typeface="Calibri"/>
                <a:ea typeface="Calibri"/>
              </a:rPr>
              <a:t> = 96,  </a:t>
            </a:r>
            <a:r>
              <a:rPr lang="en-US" altLang="zh-CN" sz="1050" b="1" dirty="0">
                <a:solidFill>
                  <a:srgbClr val="1A2744"/>
                </a:solidFill>
                <a:latin typeface="Consolas"/>
                <a:ea typeface="Consolas"/>
              </a:rPr>
              <a:t>label_len</a:t>
            </a:r>
            <a:r>
              <a:rPr lang="en-US" altLang="zh-CN" sz="1050" dirty="0">
                <a:solidFill>
                  <a:srgbClr val="4A5668"/>
                </a:solidFill>
                <a:latin typeface="Calibri"/>
                <a:ea typeface="Calibri"/>
              </a:rPr>
              <a:t> = 48,  </a:t>
            </a:r>
            <a:r>
              <a:rPr lang="en-US" altLang="zh-CN" sz="1050" b="1" dirty="0">
                <a:solidFill>
                  <a:srgbClr val="1A2744"/>
                </a:solidFill>
                <a:latin typeface="Consolas"/>
                <a:ea typeface="Consolas"/>
              </a:rPr>
              <a:t>pred_len</a:t>
            </a:r>
            <a:r>
              <a:rPr lang="en-US" altLang="zh-CN" sz="1050" dirty="0">
                <a:solidFill>
                  <a:srgbClr val="4A5668"/>
                </a:solidFill>
                <a:latin typeface="Calibri"/>
                <a:ea typeface="Calibri"/>
              </a:rPr>
              <a:t> ∈ {96, 336}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EA2EE58-BA99-4005-9A66-8A33A231899A}"/>
              </a:ext>
            </a:extLst>
          </p:cNvPr>
          <p:cNvSpPr txBox="1"/>
          <p:nvPr/>
        </p:nvSpPr>
        <p:spPr>
          <a:xfrm>
            <a:off x="635000" y="45085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900" spc="30" dirty="0">
                <a:solidFill>
                  <a:srgbClr val="9BA7B4"/>
                </a:solidFill>
                <a:latin typeface="Calibri"/>
                <a:ea typeface="Calibri"/>
              </a:rPr>
              <a:t>ProbTSLANet  —  Dataset</a:t>
            </a:r>
          </a:p>
        </p:txBody>
      </p:sp>
      <p:pic>
        <p:nvPicPr>
          <p:cNvPr id="56" name="Graphic 56" descr="Weather cloud ic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8000" y="254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434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文本框 42">
            <a:extLst>
              <a:ext uri="{FF2B5EF4-FFF2-40B4-BE49-F238E27FC236}">
                <a16:creationId xmlns:a16="http://schemas.microsoft.com/office/drawing/2014/main" id="{B4DF6B49-5917-4A2E-8B90-31F1FA6A2B60}"/>
              </a:ext>
            </a:extLst>
          </p:cNvPr>
          <p:cNvSpPr txBox="1"/>
          <p:nvPr/>
        </p:nvSpPr>
        <p:spPr>
          <a:xfrm>
            <a:off x="635000" y="254000"/>
            <a:ext cx="7874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1B2A4A"/>
                </a:solidFill>
                <a:latin typeface="Georgia"/>
              </a:rPr>
              <a:t>Model Architecture: ProbTSLANet</a:t>
            </a:r>
            <a:endParaRPr lang="zh-CN" altLang="en-US" sz="2400" b="1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C2AFA84-A390-4CCB-89EE-94B03FCE8CAF}"/>
              </a:ext>
            </a:extLst>
          </p:cNvPr>
          <p:cNvSpPr/>
          <p:nvPr/>
        </p:nvSpPr>
        <p:spPr>
          <a:xfrm>
            <a:off x="635000" y="825500"/>
            <a:ext cx="1016000" cy="381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5" name="矩形: 圆角 44">
            <a:extLst>
              <a:ext uri="{FF2B5EF4-FFF2-40B4-BE49-F238E27FC236}">
                <a16:creationId xmlns:a16="http://schemas.microsoft.com/office/drawing/2014/main" id="{6C8ED95F-3097-4585-95A8-4C4C066769EC}"/>
              </a:ext>
            </a:extLst>
          </p:cNvPr>
          <p:cNvSpPr/>
          <p:nvPr/>
        </p:nvSpPr>
        <p:spPr>
          <a:xfrm>
            <a:off x="889000" y="1016000"/>
            <a:ext cx="1079500" cy="698500"/>
          </a:xfrm>
          <a:prstGeom prst="round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zh-CN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Input
Sequence</a:t>
            </a:r>
            <a:endParaRPr lang="zh-CN" altLang="en-US" sz="1400" b="1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7B67C0B-8AD0-426C-A318-8BD12D6D965A}"/>
              </a:ext>
            </a:extLst>
          </p:cNvPr>
          <p:cNvSpPr txBox="1"/>
          <p:nvPr/>
        </p:nvSpPr>
        <p:spPr>
          <a:xfrm>
            <a:off x="889000" y="1765300"/>
            <a:ext cx="1079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(B, L, M)</a:t>
            </a:r>
            <a:endParaRPr lang="zh-CN" altLang="en-US" sz="1400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47" name="箭头: 右 46">
            <a:extLst>
              <a:ext uri="{FF2B5EF4-FFF2-40B4-BE49-F238E27FC236}">
                <a16:creationId xmlns:a16="http://schemas.microsoft.com/office/drawing/2014/main" id="{FCAE474D-38D2-4FDF-B3C5-021E5CE09893}"/>
              </a:ext>
            </a:extLst>
          </p:cNvPr>
          <p:cNvSpPr/>
          <p:nvPr/>
        </p:nvSpPr>
        <p:spPr>
          <a:xfrm>
            <a:off x="1981200" y="1263650"/>
            <a:ext cx="152400" cy="203200"/>
          </a:xfrm>
          <a:prstGeom prst="rightArrow">
            <a:avLst/>
          </a:prstGeom>
          <a:solidFill>
            <a:srgbClr val="9BA7B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7BD715A4-0049-4C76-ABF5-E3491C4CAAC4}"/>
              </a:ext>
            </a:extLst>
          </p:cNvPr>
          <p:cNvSpPr/>
          <p:nvPr/>
        </p:nvSpPr>
        <p:spPr>
          <a:xfrm>
            <a:off x="2146300" y="1016000"/>
            <a:ext cx="1079500" cy="698500"/>
          </a:xfrm>
          <a:prstGeom prst="round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zh-CN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RevIN
Norm</a:t>
            </a:r>
            <a:endParaRPr lang="zh-CN" altLang="en-US" sz="1400" b="1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A768495-7566-4869-8B8C-7CAB25281654}"/>
              </a:ext>
            </a:extLst>
          </p:cNvPr>
          <p:cNvSpPr txBox="1"/>
          <p:nvPr/>
        </p:nvSpPr>
        <p:spPr>
          <a:xfrm>
            <a:off x="2146300" y="1765300"/>
            <a:ext cx="1079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Instance Norm</a:t>
            </a:r>
            <a:endParaRPr lang="zh-CN" altLang="en-US" sz="1400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50" name="箭头: 右 49">
            <a:extLst>
              <a:ext uri="{FF2B5EF4-FFF2-40B4-BE49-F238E27FC236}">
                <a16:creationId xmlns:a16="http://schemas.microsoft.com/office/drawing/2014/main" id="{1EDC472E-527E-415B-9A27-3422CDF6893F}"/>
              </a:ext>
            </a:extLst>
          </p:cNvPr>
          <p:cNvSpPr/>
          <p:nvPr/>
        </p:nvSpPr>
        <p:spPr>
          <a:xfrm>
            <a:off x="3238500" y="1263650"/>
            <a:ext cx="152400" cy="203200"/>
          </a:xfrm>
          <a:prstGeom prst="rightArrow">
            <a:avLst/>
          </a:prstGeom>
          <a:solidFill>
            <a:srgbClr val="9BA7B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30A4F71B-F94A-4BC9-8875-7AC55356E6B8}"/>
              </a:ext>
            </a:extLst>
          </p:cNvPr>
          <p:cNvSpPr/>
          <p:nvPr/>
        </p:nvSpPr>
        <p:spPr>
          <a:xfrm>
            <a:off x="3403600" y="1016000"/>
            <a:ext cx="1079500" cy="698500"/>
          </a:xfrm>
          <a:prstGeom prst="round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zh-CN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Patching
&amp; Embed</a:t>
            </a:r>
            <a:endParaRPr lang="zh-CN" altLang="en-US" sz="1400" b="1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64F2C97-A47D-4105-8E54-5F7DD0B78FAD}"/>
              </a:ext>
            </a:extLst>
          </p:cNvPr>
          <p:cNvSpPr txBox="1"/>
          <p:nvPr/>
        </p:nvSpPr>
        <p:spPr>
          <a:xfrm>
            <a:off x="3403600" y="1765300"/>
            <a:ext cx="1079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patch=16, stride=8</a:t>
            </a:r>
            <a:endParaRPr lang="zh-CN" altLang="en-US" sz="1400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53" name="箭头: 右 52">
            <a:extLst>
              <a:ext uri="{FF2B5EF4-FFF2-40B4-BE49-F238E27FC236}">
                <a16:creationId xmlns:a16="http://schemas.microsoft.com/office/drawing/2014/main" id="{5E32FDC0-96C2-4431-8BC3-ED57BA64D1B3}"/>
              </a:ext>
            </a:extLst>
          </p:cNvPr>
          <p:cNvSpPr/>
          <p:nvPr/>
        </p:nvSpPr>
        <p:spPr>
          <a:xfrm>
            <a:off x="4495800" y="1263650"/>
            <a:ext cx="152400" cy="203200"/>
          </a:xfrm>
          <a:prstGeom prst="rightArrow">
            <a:avLst/>
          </a:prstGeom>
          <a:solidFill>
            <a:srgbClr val="9BA7B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6E5D3B7E-04CB-4DFF-A51E-87561E84B7D1}"/>
              </a:ext>
            </a:extLst>
          </p:cNvPr>
          <p:cNvSpPr/>
          <p:nvPr/>
        </p:nvSpPr>
        <p:spPr>
          <a:xfrm>
            <a:off x="4660900" y="1016000"/>
            <a:ext cx="1079500" cy="698500"/>
          </a:xfrm>
          <a:prstGeom prst="round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zh-CN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TSLANet
Blocks ×2</a:t>
            </a:r>
            <a:endParaRPr lang="zh-CN" altLang="en-US" sz="1400" b="1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A97626A-7498-4874-A80F-FF98EB834E8A}"/>
              </a:ext>
            </a:extLst>
          </p:cNvPr>
          <p:cNvSpPr txBox="1"/>
          <p:nvPr/>
        </p:nvSpPr>
        <p:spPr>
          <a:xfrm>
            <a:off x="4660900" y="1765300"/>
            <a:ext cx="1079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ASB + ICB</a:t>
            </a:r>
            <a:endParaRPr lang="zh-CN" altLang="en-US" sz="1400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56" name="箭头: 右 55">
            <a:extLst>
              <a:ext uri="{FF2B5EF4-FFF2-40B4-BE49-F238E27FC236}">
                <a16:creationId xmlns:a16="http://schemas.microsoft.com/office/drawing/2014/main" id="{09F88555-55CC-455A-B9AC-8389B545F9E0}"/>
              </a:ext>
            </a:extLst>
          </p:cNvPr>
          <p:cNvSpPr/>
          <p:nvPr/>
        </p:nvSpPr>
        <p:spPr>
          <a:xfrm>
            <a:off x="5753100" y="1263650"/>
            <a:ext cx="152400" cy="203200"/>
          </a:xfrm>
          <a:prstGeom prst="rightArrow">
            <a:avLst/>
          </a:prstGeom>
          <a:solidFill>
            <a:srgbClr val="9BA7B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7" name="矩形: 圆角 56">
            <a:extLst>
              <a:ext uri="{FF2B5EF4-FFF2-40B4-BE49-F238E27FC236}">
                <a16:creationId xmlns:a16="http://schemas.microsoft.com/office/drawing/2014/main" id="{2CA9FB14-8EA8-4722-9B1A-E5987F7EDB27}"/>
              </a:ext>
            </a:extLst>
          </p:cNvPr>
          <p:cNvSpPr/>
          <p:nvPr/>
        </p:nvSpPr>
        <p:spPr>
          <a:xfrm>
            <a:off x="5918200" y="1016000"/>
            <a:ext cx="1079500" cy="698500"/>
          </a:xfrm>
          <a:prstGeom prst="round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zh-CN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Flatten
&amp; Project</a:t>
            </a:r>
            <a:endParaRPr lang="zh-CN" altLang="en-US" sz="1400" b="1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724BD44-6BFE-4269-AE17-ABE5E7720EC4}"/>
              </a:ext>
            </a:extLst>
          </p:cNvPr>
          <p:cNvSpPr txBox="1"/>
          <p:nvPr/>
        </p:nvSpPr>
        <p:spPr>
          <a:xfrm>
            <a:off x="5918200" y="1765300"/>
            <a:ext cx="1079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emb_dim × N_p</a:t>
            </a:r>
            <a:endParaRPr lang="zh-CN" altLang="en-US" sz="1400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59" name="箭头: 右 58">
            <a:extLst>
              <a:ext uri="{FF2B5EF4-FFF2-40B4-BE49-F238E27FC236}">
                <a16:creationId xmlns:a16="http://schemas.microsoft.com/office/drawing/2014/main" id="{150DC4C9-DBD2-4B06-95A6-6BD15E7600C5}"/>
              </a:ext>
            </a:extLst>
          </p:cNvPr>
          <p:cNvSpPr/>
          <p:nvPr/>
        </p:nvSpPr>
        <p:spPr>
          <a:xfrm>
            <a:off x="7010400" y="1263650"/>
            <a:ext cx="152400" cy="203200"/>
          </a:xfrm>
          <a:prstGeom prst="rightArrow">
            <a:avLst/>
          </a:prstGeom>
          <a:solidFill>
            <a:srgbClr val="9BA7B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8F67002D-EFEA-4F58-855C-DB0B7F48956C}"/>
              </a:ext>
            </a:extLst>
          </p:cNvPr>
          <p:cNvSpPr/>
          <p:nvPr/>
        </p:nvSpPr>
        <p:spPr>
          <a:xfrm>
            <a:off x="7175500" y="1016000"/>
            <a:ext cx="1079500" cy="698500"/>
          </a:xfrm>
          <a:prstGeom prst="round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altLang="zh-CN"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Output
Head</a:t>
            </a:r>
            <a:endParaRPr lang="zh-CN" altLang="en-US" sz="1400" b="1">
              <a:solidFill>
                <a:srgbClr val="FFFFFF"/>
              </a:solidFill>
              <a:latin typeface="Calibri"/>
              <a:cs typeface="Calibri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C48939B-D971-4C46-B670-C3B7126CAB78}"/>
              </a:ext>
            </a:extLst>
          </p:cNvPr>
          <p:cNvSpPr txBox="1"/>
          <p:nvPr/>
        </p:nvSpPr>
        <p:spPr>
          <a:xfrm>
            <a:off x="7175500" y="1765300"/>
            <a:ext cx="10795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ctr"/>
            <a:r>
              <a:rPr lang="en-US" sz="1400" i="1" dirty="0">
                <a:solidFill>
                  <a:srgbClr val="6B7B8D"/>
                </a:solidFill>
                <a:latin typeface="Cambria Math"/>
              </a:rPr>
              <a:t>μ</a:t>
            </a:r>
            <a:r>
              <a:rPr lang="en-US" sz="1400" dirty="0">
                <a:solidFill>
                  <a:srgbClr val="6B7B8D"/>
                </a:solidFill>
                <a:latin typeface="Calibri"/>
              </a:rPr>
              <a:t>, log </a:t>
            </a:r>
            <a:r>
              <a:rPr lang="en-US" sz="1400" i="1" dirty="0">
                <a:solidFill>
                  <a:srgbClr val="6B7B8D"/>
                </a:solidFill>
                <a:latin typeface="Cambria Math"/>
              </a:rPr>
              <a:t>σ</a:t>
            </a:r>
            <a:r>
              <a:rPr lang="en-US" sz="1400" baseline="30000" dirty="0">
                <a:solidFill>
                  <a:srgbClr val="6B7B8D"/>
                </a:solidFill>
                <a:latin typeface="Cambria Math"/>
              </a:rPr>
              <a:t>2</a:t>
            </a:r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7BAAC571-5F7C-4DCB-878E-CFB9D1CC08B7}"/>
              </a:ext>
            </a:extLst>
          </p:cNvPr>
          <p:cNvSpPr/>
          <p:nvPr/>
        </p:nvSpPr>
        <p:spPr>
          <a:xfrm>
            <a:off x="635000" y="2222500"/>
            <a:ext cx="3810000" cy="2349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219345CE-768D-410B-B239-9EB557A8460F}"/>
              </a:ext>
            </a:extLst>
          </p:cNvPr>
          <p:cNvSpPr/>
          <p:nvPr/>
        </p:nvSpPr>
        <p:spPr>
          <a:xfrm>
            <a:off x="635000" y="2222500"/>
            <a:ext cx="50800" cy="2349500"/>
          </a:xfrm>
          <a:prstGeom prst="rect">
            <a:avLst/>
          </a:prstGeom>
          <a:solidFill>
            <a:srgbClr val="6C5B7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2BA56629-B895-4755-B358-F3D67EB9127E}"/>
              </a:ext>
            </a:extLst>
          </p:cNvPr>
          <p:cNvSpPr txBox="1"/>
          <p:nvPr/>
        </p:nvSpPr>
        <p:spPr>
          <a:xfrm>
            <a:off x="863600" y="2311400"/>
            <a:ext cx="3429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6C5B7B"/>
                </a:solidFill>
                <a:latin typeface="Georgia"/>
              </a:rPr>
              <a:t>Reversible Instance Normalisation</a:t>
            </a:r>
            <a:endParaRPr lang="zh-CN" altLang="en-US" sz="1500" b="1">
              <a:solidFill>
                <a:srgbClr val="6C5B7B"/>
              </a:solidFill>
              <a:latin typeface="Georgia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22E1B128-2CF7-470B-9F33-84AE66D82265}"/>
              </a:ext>
            </a:extLst>
          </p:cNvPr>
          <p:cNvSpPr txBox="1"/>
          <p:nvPr/>
        </p:nvSpPr>
        <p:spPr>
          <a:xfrm>
            <a:off x="863600" y="2825750"/>
            <a:ext cx="3429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D4F6F"/>
                </a:solidFill>
                <a:latin typeface="Calibri"/>
              </a:rPr>
              <a:t>Normalize:</a:t>
            </a:r>
            <a:r>
              <a:rPr lang="en-US" sz="1400" dirty="0">
                <a:solidFill>
                  <a:srgbClr val="3D4F6F"/>
                </a:solidFill>
                <a:latin typeface="Calibri"/>
              </a:rPr>
              <a:t> 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x̃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= (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−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μ</a:t>
            </a:r>
            <a:r>
              <a:rPr lang="en-US" sz="1100" i="1" baseline="-25000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) /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1100" i="1" baseline="-25000" dirty="0">
                <a:solidFill>
                  <a:srgbClr val="2B5797"/>
                </a:solidFill>
                <a:latin typeface="Cambria Math"/>
              </a:rPr>
              <a:t>x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D4F6F"/>
                </a:solidFill>
                <a:latin typeface="Calibri"/>
              </a:rPr>
              <a:t>Denorm </a:t>
            </a:r>
            <a:r>
              <a:rPr lang="en-US" sz="1400" b="1" i="1" dirty="0">
                <a:solidFill>
                  <a:srgbClr val="3D4F6F"/>
                </a:solidFill>
                <a:latin typeface="Cambria Math"/>
              </a:rPr>
              <a:t>μ</a:t>
            </a:r>
            <a:r>
              <a:rPr lang="en-US" sz="1400" b="1" dirty="0">
                <a:solidFill>
                  <a:srgbClr val="3D4F6F"/>
                </a:solidFill>
                <a:latin typeface="Calibri"/>
              </a:rPr>
              <a:t>:</a:t>
            </a:r>
            <a:r>
              <a:rPr lang="en-US" sz="1400" dirty="0">
                <a:solidFill>
                  <a:srgbClr val="3D4F6F"/>
                </a:solidFill>
                <a:latin typeface="Calibri"/>
              </a:rPr>
              <a:t> 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ŷ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=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μ̃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⋅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1100" i="1" baseline="-25000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+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μ</a:t>
            </a:r>
            <a:r>
              <a:rPr lang="en-US" sz="1100" i="1" baseline="-25000" dirty="0">
                <a:solidFill>
                  <a:srgbClr val="2B5797"/>
                </a:solidFill>
                <a:latin typeface="Cambria Math"/>
              </a:rPr>
              <a:t>x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3D4F6F"/>
                </a:solidFill>
                <a:latin typeface="Calibri"/>
              </a:rPr>
              <a:t>Denorm log </a:t>
            </a:r>
            <a:r>
              <a:rPr lang="en-US" sz="1400" b="1" i="1" dirty="0">
                <a:solidFill>
                  <a:srgbClr val="3D4F6F"/>
                </a:solidFill>
                <a:latin typeface="Cambria Math"/>
              </a:rPr>
              <a:t>σ</a:t>
            </a:r>
            <a:r>
              <a:rPr lang="en-US" sz="1400" b="1" baseline="30000" dirty="0">
                <a:solidFill>
                  <a:srgbClr val="3D4F6F"/>
                </a:solidFill>
                <a:latin typeface="Cambria Math"/>
              </a:rPr>
              <a:t>2</a:t>
            </a:r>
            <a:r>
              <a:rPr lang="en-US" sz="1400" b="1" dirty="0">
                <a:solidFill>
                  <a:srgbClr val="3D4F6F"/>
                </a:solidFill>
                <a:latin typeface="Calibri"/>
              </a:rPr>
              <a:t>:</a:t>
            </a:r>
            <a:r>
              <a:rPr lang="en-US" sz="1400" dirty="0">
                <a:solidFill>
                  <a:srgbClr val="3D4F6F"/>
                </a:solidFill>
                <a:latin typeface="Calibri"/>
              </a:rPr>
              <a:t>  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log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14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= log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σ̃</a:t>
            </a:r>
            <a:r>
              <a:rPr lang="en-US" sz="14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+ 2 log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1100" i="1" baseline="-25000" dirty="0">
                <a:solidFill>
                  <a:srgbClr val="2B5797"/>
                </a:solidFill>
                <a:latin typeface="Cambria Math"/>
              </a:rPr>
              <a:t>x</a:t>
            </a:r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36CF0A9A-CA5F-402E-8495-72B0C699D053}"/>
              </a:ext>
            </a:extLst>
          </p:cNvPr>
          <p:cNvSpPr/>
          <p:nvPr/>
        </p:nvSpPr>
        <p:spPr>
          <a:xfrm>
            <a:off x="4699000" y="2222500"/>
            <a:ext cx="3810000" cy="2349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F5DBDD83-9E0D-4953-858C-7A6DCF2ADECC}"/>
              </a:ext>
            </a:extLst>
          </p:cNvPr>
          <p:cNvSpPr/>
          <p:nvPr/>
        </p:nvSpPr>
        <p:spPr>
          <a:xfrm>
            <a:off x="4699000" y="2222500"/>
            <a:ext cx="50800" cy="23495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BFE6B04-0151-4D92-ABD4-C62C31C7A9C6}"/>
              </a:ext>
            </a:extLst>
          </p:cNvPr>
          <p:cNvSpPr txBox="1"/>
          <p:nvPr/>
        </p:nvSpPr>
        <p:spPr>
          <a:xfrm>
            <a:off x="4927600" y="2311400"/>
            <a:ext cx="3429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2B5797"/>
                </a:solidFill>
                <a:latin typeface="Georgia"/>
              </a:rPr>
              <a:t>Patching Strategy</a:t>
            </a:r>
            <a:endParaRPr lang="zh-CN" altLang="en-US" sz="1500" b="1">
              <a:solidFill>
                <a:srgbClr val="2B5797"/>
              </a:solidFill>
              <a:latin typeface="Georgia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F77990C6-A647-48B4-9EE3-3F2FD36A87C8}"/>
              </a:ext>
            </a:extLst>
          </p:cNvPr>
          <p:cNvSpPr txBox="1"/>
          <p:nvPr/>
        </p:nvSpPr>
        <p:spPr>
          <a:xfrm>
            <a:off x="4927600" y="2692400"/>
            <a:ext cx="3429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Patch size = 16, stride = 8 (50% overlap)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N</a:t>
            </a:r>
            <a:r>
              <a:rPr lang="en-US" sz="1100" baseline="-25000" dirty="0">
                <a:solidFill>
                  <a:srgbClr val="2B5797"/>
                </a:solidFill>
                <a:latin typeface="Cambria Math"/>
              </a:rPr>
              <a:t>patches</a:t>
            </a:r>
            <a:r>
              <a:rPr lang="en-US" sz="1400" dirty="0">
                <a:solidFill>
                  <a:srgbClr val="3D4F6F"/>
                </a:solidFill>
                <a:latin typeface="Calibri"/>
              </a:rPr>
              <a:t> = (96 − 16) / 8 + 1 = 11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Channel independence per variable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Linear projection: patch_size → emb_dim (32)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3F26627C-AC72-47E0-BC58-13A6381696DE}"/>
              </a:ext>
            </a:extLst>
          </p:cNvPr>
          <p:cNvSpPr txBox="1"/>
          <p:nvPr/>
        </p:nvSpPr>
        <p:spPr>
          <a:xfrm>
            <a:off x="635000" y="4826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9BA7B4"/>
                </a:solidFill>
                <a:latin typeface="Calibri"/>
                <a:ea typeface="Calibri"/>
                <a:cs typeface="Calibri"/>
              </a:rPr>
              <a:t>ProbTSLANet — Architecture</a:t>
            </a:r>
            <a:endParaRPr lang="zh-CN" altLang="en-US" sz="1400">
              <a:solidFill>
                <a:srgbClr val="9BA7B4"/>
              </a:solidFill>
              <a:latin typeface="Calibri"/>
              <a:cs typeface="Calibri"/>
            </a:endParaRPr>
          </a:p>
        </p:txBody>
      </p:sp>
      <p:pic>
        <p:nvPicPr>
          <p:cNvPr id="71" name="Graphic 71" descr="Architecture gears ic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8000" y="254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656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0B95B1FE-5705-4F4E-94AC-E434EA442A03}"/>
              </a:ext>
            </a:extLst>
          </p:cNvPr>
          <p:cNvSpPr txBox="1"/>
          <p:nvPr/>
        </p:nvSpPr>
        <p:spPr>
          <a:xfrm>
            <a:off x="635000" y="254000"/>
            <a:ext cx="7874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1B2A4A"/>
                </a:solidFill>
                <a:latin typeface="Georgia"/>
              </a:rPr>
              <a:t>Core Components: ASB &amp; ICB</a:t>
            </a:r>
            <a:endParaRPr lang="zh-CN" altLang="en-US" sz="2400" b="1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85B75C3-462C-44BD-9225-E584BC992DDB}"/>
              </a:ext>
            </a:extLst>
          </p:cNvPr>
          <p:cNvSpPr/>
          <p:nvPr/>
        </p:nvSpPr>
        <p:spPr>
          <a:xfrm>
            <a:off x="635000" y="825500"/>
            <a:ext cx="1016000" cy="381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4D89C32-F960-478E-8EB6-ED25E55F4865}"/>
              </a:ext>
            </a:extLst>
          </p:cNvPr>
          <p:cNvSpPr/>
          <p:nvPr/>
        </p:nvSpPr>
        <p:spPr>
          <a:xfrm>
            <a:off x="635000" y="1041400"/>
            <a:ext cx="3810000" cy="3492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27E62E2-BB9D-478C-8428-D932811AED75}"/>
              </a:ext>
            </a:extLst>
          </p:cNvPr>
          <p:cNvSpPr/>
          <p:nvPr/>
        </p:nvSpPr>
        <p:spPr>
          <a:xfrm>
            <a:off x="635000" y="1041400"/>
            <a:ext cx="50800" cy="3492500"/>
          </a:xfrm>
          <a:prstGeom prst="rect">
            <a:avLst/>
          </a:prstGeom>
          <a:solidFill>
            <a:srgbClr val="6C5B7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434BC49-5887-47D4-9A5E-21BE726DD4AF}"/>
              </a:ext>
            </a:extLst>
          </p:cNvPr>
          <p:cNvSpPr txBox="1"/>
          <p:nvPr/>
        </p:nvSpPr>
        <p:spPr>
          <a:xfrm>
            <a:off x="863600" y="1143000"/>
            <a:ext cx="3429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600" b="1">
                <a:solidFill>
                  <a:srgbClr val="6C5B7B"/>
                </a:solidFill>
                <a:latin typeface="Georgia"/>
              </a:rPr>
              <a:t>Adaptive Spectral Block (ASB)</a:t>
            </a:r>
            <a:endParaRPr lang="zh-CN" altLang="en-US" sz="1600" b="1">
              <a:solidFill>
                <a:srgbClr val="6C5B7B"/>
              </a:solidFill>
              <a:latin typeface="Georgi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2468282-00F1-4ECA-97E7-6035953C6717}"/>
              </a:ext>
            </a:extLst>
          </p:cNvPr>
          <p:cNvSpPr txBox="1"/>
          <p:nvPr/>
        </p:nvSpPr>
        <p:spPr>
          <a:xfrm>
            <a:off x="863600" y="1524000"/>
            <a:ext cx="3429000" cy="292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1. Apply FFT to patch embeddings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2. Learn complex freq weights  </a:t>
            </a:r>
            <a:r>
              <a:rPr lang="en-US" sz="1400" b="1" i="1" dirty="0">
                <a:solidFill>
                  <a:srgbClr val="2B5797"/>
                </a:solidFill>
                <a:latin typeface="Cambria Math"/>
              </a:rPr>
              <a:t>W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∈ ℂ</a:t>
            </a:r>
            <a:r>
              <a:rPr lang="en-US" sz="1100" i="1" baseline="30000" dirty="0">
                <a:solidFill>
                  <a:srgbClr val="2B5797"/>
                </a:solidFill>
                <a:latin typeface="Cambria Math"/>
              </a:rPr>
              <a:t>d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3. Energy-based adaptive mask:</a:t>
            </a:r>
          </a:p>
          <a:p>
            <a:pPr marL="342900" indent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E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(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k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) = |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X̂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(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k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)|</a:t>
            </a:r>
            <a:r>
              <a:rPr lang="en-US" sz="14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  mask = 𝟙[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E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&gt;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τ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⋅ med]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4. Separate low-freq vs high-freq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5. IFFT back to time domain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228D1E2-896F-41C6-8554-AA11C265D919}"/>
              </a:ext>
            </a:extLst>
          </p:cNvPr>
          <p:cNvSpPr/>
          <p:nvPr/>
        </p:nvSpPr>
        <p:spPr>
          <a:xfrm>
            <a:off x="4699000" y="1041400"/>
            <a:ext cx="3810000" cy="3492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A9EB599-5AD3-4BEC-A057-55581C7F4739}"/>
              </a:ext>
            </a:extLst>
          </p:cNvPr>
          <p:cNvSpPr/>
          <p:nvPr/>
        </p:nvSpPr>
        <p:spPr>
          <a:xfrm>
            <a:off x="4699000" y="1041400"/>
            <a:ext cx="50800" cy="34925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C9D7E9FD-CFCF-4C2C-B40A-3B69A8C80314}"/>
              </a:ext>
            </a:extLst>
          </p:cNvPr>
          <p:cNvSpPr txBox="1"/>
          <p:nvPr/>
        </p:nvSpPr>
        <p:spPr>
          <a:xfrm>
            <a:off x="4927600" y="1143000"/>
            <a:ext cx="3429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600" b="1">
                <a:solidFill>
                  <a:srgbClr val="E67E22"/>
                </a:solidFill>
                <a:latin typeface="Georgia"/>
              </a:rPr>
              <a:t>Interacting Conv Block (ICB)</a:t>
            </a:r>
            <a:endParaRPr lang="zh-CN" altLang="en-US" sz="1600" b="1">
              <a:solidFill>
                <a:srgbClr val="E67E22"/>
              </a:solidFill>
              <a:latin typeface="Georgi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996DB2F-CC78-4E8A-897E-9B283654CD96}"/>
              </a:ext>
            </a:extLst>
          </p:cNvPr>
          <p:cNvSpPr txBox="1"/>
          <p:nvPr/>
        </p:nvSpPr>
        <p:spPr>
          <a:xfrm>
            <a:off x="4927600" y="1524000"/>
            <a:ext cx="3429000" cy="292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Dual-path 1D convolutions with gating: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100" baseline="-25000" dirty="0">
                <a:solidFill>
                  <a:srgbClr val="2B5797"/>
                </a:solidFill>
                <a:latin typeface="Cambria Math"/>
              </a:rPr>
              <a:t>1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= Conv1D(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, kernel = 1)</a:t>
            </a:r>
          </a:p>
          <a:p>
            <a:pPr marL="0" indent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100" baseline="-25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= Conv1D(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, kernel = 3)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2B5797"/>
                </a:solidFill>
                <a:latin typeface="Cambria Math"/>
              </a:rPr>
              <a:t>out = Conv1D(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100" baseline="-25000" dirty="0">
                <a:solidFill>
                  <a:srgbClr val="2B5797"/>
                </a:solidFill>
                <a:latin typeface="Cambria Math"/>
              </a:rPr>
              <a:t>1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⊙ GELU(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100" baseline="-25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) +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100" baseline="-25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⊙ GELU(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100" baseline="-25000" dirty="0">
                <a:solidFill>
                  <a:srgbClr val="2B5797"/>
                </a:solidFill>
                <a:latin typeface="Cambria Math"/>
              </a:rPr>
              <a:t>1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))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Captures local patterns + cross-feature interactions via multiplicative gating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7784A00-2F88-4EB6-ACD4-D10FFF11F995}"/>
              </a:ext>
            </a:extLst>
          </p:cNvPr>
          <p:cNvSpPr txBox="1"/>
          <p:nvPr/>
        </p:nvSpPr>
        <p:spPr>
          <a:xfrm>
            <a:off x="635000" y="4826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9BA7B4"/>
                </a:solidFill>
                <a:latin typeface="Calibri"/>
                <a:ea typeface="Calibri"/>
                <a:cs typeface="Calibri"/>
              </a:rPr>
              <a:t>ProbTSLANet — Core Components</a:t>
            </a:r>
            <a:endParaRPr lang="zh-CN" altLang="en-US" sz="1400">
              <a:solidFill>
                <a:srgbClr val="9BA7B4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655520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框 33">
            <a:extLst>
              <a:ext uri="{FF2B5EF4-FFF2-40B4-BE49-F238E27FC236}">
                <a16:creationId xmlns:a16="http://schemas.microsoft.com/office/drawing/2014/main" id="{F571C9E5-0746-4491-A95E-AAF557E0171E}"/>
              </a:ext>
            </a:extLst>
          </p:cNvPr>
          <p:cNvSpPr txBox="1"/>
          <p:nvPr/>
        </p:nvSpPr>
        <p:spPr>
          <a:xfrm>
            <a:off x="635000" y="254000"/>
            <a:ext cx="7874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1B2A4A"/>
                </a:solidFill>
                <a:latin typeface="Georgia"/>
              </a:rPr>
              <a:t>Uncertainty: Four Configurations</a:t>
            </a:r>
            <a:endParaRPr lang="zh-CN" altLang="en-US" sz="2400" b="1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4EF7ECB-275F-4774-B58A-F5A70B788932}"/>
              </a:ext>
            </a:extLst>
          </p:cNvPr>
          <p:cNvSpPr/>
          <p:nvPr/>
        </p:nvSpPr>
        <p:spPr>
          <a:xfrm>
            <a:off x="635000" y="825500"/>
            <a:ext cx="1016000" cy="381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375D9D1-E5B7-4F10-8BD3-46431C43D2ED}"/>
              </a:ext>
            </a:extLst>
          </p:cNvPr>
          <p:cNvSpPr/>
          <p:nvPr/>
        </p:nvSpPr>
        <p:spPr>
          <a:xfrm>
            <a:off x="635000" y="1016000"/>
            <a:ext cx="3810000" cy="1587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2611EDC-147F-4FF9-94F4-33AB20B29618}"/>
              </a:ext>
            </a:extLst>
          </p:cNvPr>
          <p:cNvSpPr/>
          <p:nvPr/>
        </p:nvSpPr>
        <p:spPr>
          <a:xfrm>
            <a:off x="635000" y="1016000"/>
            <a:ext cx="50800" cy="1587500"/>
          </a:xfrm>
          <a:prstGeom prst="rect">
            <a:avLst/>
          </a:prstGeom>
          <a:solidFill>
            <a:srgbClr val="6B7B8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835DC2AE-7D3E-4F74-BB16-81309C45A04B}"/>
              </a:ext>
            </a:extLst>
          </p:cNvPr>
          <p:cNvSpPr/>
          <p:nvPr/>
        </p:nvSpPr>
        <p:spPr>
          <a:xfrm>
            <a:off x="812800" y="1143000"/>
            <a:ext cx="444500" cy="279400"/>
          </a:xfrm>
          <a:prstGeom prst="roundRect">
            <a:avLst/>
          </a:prstGeom>
          <a:solidFill>
            <a:srgbClr val="6B7B8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CN" sz="1400" b="1">
                <a:solidFill>
                  <a:srgbClr val="FFFFFF"/>
                </a:solidFill>
              </a:rPr>
              <a:t>A1</a:t>
            </a:r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E6C354C-5141-4EBB-AC91-EC33FD90FF87}"/>
              </a:ext>
            </a:extLst>
          </p:cNvPr>
          <p:cNvSpPr txBox="1"/>
          <p:nvPr/>
        </p:nvSpPr>
        <p:spPr>
          <a:xfrm>
            <a:off x="1333500" y="11430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1B2A4A"/>
                </a:solidFill>
                <a:latin typeface="Georgia"/>
              </a:rPr>
              <a:t>Deterministic Baseline</a:t>
            </a:r>
            <a:endParaRPr lang="zh-CN" altLang="en-US" sz="1500" b="1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F6D9142-33B7-45AF-8824-541457C7AF9C}"/>
              </a:ext>
            </a:extLst>
          </p:cNvPr>
          <p:cNvSpPr txBox="1"/>
          <p:nvPr/>
        </p:nvSpPr>
        <p:spPr>
          <a:xfrm>
            <a:off x="812800" y="14986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Standard point forecasting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Single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ŷ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=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f</a:t>
            </a:r>
            <a:r>
              <a:rPr lang="en-US" sz="1100" i="1" baseline="-25000" dirty="0">
                <a:solidFill>
                  <a:srgbClr val="2B5797"/>
                </a:solidFill>
                <a:latin typeface="Cambria Math"/>
              </a:rPr>
              <a:t>θ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(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)</a:t>
            </a:r>
            <a:r>
              <a:rPr lang="en-US" sz="1400" dirty="0">
                <a:solidFill>
                  <a:srgbClr val="3D4F6F"/>
                </a:solidFill>
                <a:latin typeface="Calibri"/>
              </a:rPr>
              <a:t>, no uncertainty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912637AE-5EF8-43C1-BB6F-238DC8B9560A}"/>
              </a:ext>
            </a:extLst>
          </p:cNvPr>
          <p:cNvSpPr txBox="1"/>
          <p:nvPr/>
        </p:nvSpPr>
        <p:spPr>
          <a:xfrm>
            <a:off x="812800" y="2133600"/>
            <a:ext cx="34544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i="1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Loss: MSE | MC Dropout: No</a:t>
            </a:r>
            <a:endParaRPr lang="zh-CN" altLang="en-US" sz="1400" i="1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0BF66B29-A3FD-4C08-BF6C-F9041C7CE1B1}"/>
              </a:ext>
            </a:extLst>
          </p:cNvPr>
          <p:cNvSpPr/>
          <p:nvPr/>
        </p:nvSpPr>
        <p:spPr>
          <a:xfrm>
            <a:off x="4699000" y="1016000"/>
            <a:ext cx="3810000" cy="1587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40409D9-A596-4208-BD8E-C53F924E1CBD}"/>
              </a:ext>
            </a:extLst>
          </p:cNvPr>
          <p:cNvSpPr/>
          <p:nvPr/>
        </p:nvSpPr>
        <p:spPr>
          <a:xfrm>
            <a:off x="4699000" y="1016000"/>
            <a:ext cx="50800" cy="15875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607CC03E-8649-48FF-9CB2-288C8B8FEFD3}"/>
              </a:ext>
            </a:extLst>
          </p:cNvPr>
          <p:cNvSpPr/>
          <p:nvPr/>
        </p:nvSpPr>
        <p:spPr>
          <a:xfrm>
            <a:off x="4876800" y="1143000"/>
            <a:ext cx="444500" cy="279400"/>
          </a:xfrm>
          <a:prstGeom prst="round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CN" sz="1400" b="1">
                <a:solidFill>
                  <a:srgbClr val="FFFFFF"/>
                </a:solidFill>
              </a:rPr>
              <a:t>A2</a:t>
            </a:r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DCBF40A0-8912-408B-97DA-D703437A19BE}"/>
              </a:ext>
            </a:extLst>
          </p:cNvPr>
          <p:cNvSpPr txBox="1"/>
          <p:nvPr/>
        </p:nvSpPr>
        <p:spPr>
          <a:xfrm>
            <a:off x="5397500" y="11430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1B2A4A"/>
                </a:solidFill>
                <a:latin typeface="Georgia"/>
              </a:rPr>
              <a:t>Epistemic Only</a:t>
            </a:r>
            <a:endParaRPr lang="zh-CN" altLang="en-US" sz="1500" b="1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5CCEAA00-F18A-4C32-9D11-61DDAA2D6426}"/>
              </a:ext>
            </a:extLst>
          </p:cNvPr>
          <p:cNvSpPr txBox="1"/>
          <p:nvPr/>
        </p:nvSpPr>
        <p:spPr>
          <a:xfrm>
            <a:off x="4876800" y="14986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MC Dropout at test time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2B5797"/>
                </a:solidFill>
                <a:latin typeface="Cambria Math"/>
              </a:rPr>
              <a:t>Var</a:t>
            </a:r>
            <a:r>
              <a:rPr lang="en-US" sz="1100" baseline="-25000" dirty="0">
                <a:solidFill>
                  <a:srgbClr val="2B5797"/>
                </a:solidFill>
                <a:latin typeface="Cambria Math"/>
              </a:rPr>
              <a:t>epist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= Var</a:t>
            </a:r>
            <a:r>
              <a:rPr lang="en-US" sz="1100" i="1" baseline="-25000" dirty="0">
                <a:solidFill>
                  <a:srgbClr val="2B5797"/>
                </a:solidFill>
                <a:latin typeface="Cambria Math"/>
              </a:rPr>
              <a:t>k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[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f</a:t>
            </a:r>
            <a:r>
              <a:rPr lang="en-US" sz="1100" i="1" baseline="-25000" dirty="0">
                <a:solidFill>
                  <a:srgbClr val="2B5797"/>
                </a:solidFill>
                <a:latin typeface="Cambria Math"/>
              </a:rPr>
              <a:t>θ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(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)]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F0BE189-8568-4185-A24F-410963E5C9D6}"/>
              </a:ext>
            </a:extLst>
          </p:cNvPr>
          <p:cNvSpPr txBox="1"/>
          <p:nvPr/>
        </p:nvSpPr>
        <p:spPr>
          <a:xfrm>
            <a:off x="4876800" y="2133600"/>
            <a:ext cx="34544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i="1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Loss: MSE | MC Dropout: Yes (K=50)</a:t>
            </a:r>
            <a:endParaRPr lang="zh-CN" altLang="en-US" sz="1400" i="1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D1855958-ABD7-44F0-9BD6-3CF4C20510FD}"/>
              </a:ext>
            </a:extLst>
          </p:cNvPr>
          <p:cNvSpPr/>
          <p:nvPr/>
        </p:nvSpPr>
        <p:spPr>
          <a:xfrm>
            <a:off x="635000" y="2857500"/>
            <a:ext cx="3810000" cy="1587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94013D59-A226-4BC2-9288-55D1A4957128}"/>
              </a:ext>
            </a:extLst>
          </p:cNvPr>
          <p:cNvSpPr/>
          <p:nvPr/>
        </p:nvSpPr>
        <p:spPr>
          <a:xfrm>
            <a:off x="635000" y="2857500"/>
            <a:ext cx="50800" cy="1587500"/>
          </a:xfrm>
          <a:prstGeom prst="rect">
            <a:avLst/>
          </a:prstGeom>
          <a:solidFill>
            <a:srgbClr val="1A7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4A529530-C137-4101-94EA-BA3582EB54FF}"/>
              </a:ext>
            </a:extLst>
          </p:cNvPr>
          <p:cNvSpPr/>
          <p:nvPr/>
        </p:nvSpPr>
        <p:spPr>
          <a:xfrm>
            <a:off x="812800" y="2984500"/>
            <a:ext cx="444500" cy="279400"/>
          </a:xfrm>
          <a:prstGeom prst="roundRect">
            <a:avLst/>
          </a:prstGeom>
          <a:solidFill>
            <a:srgbClr val="1A7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CN" sz="1400" b="1">
                <a:solidFill>
                  <a:srgbClr val="FFFFFF"/>
                </a:solidFill>
              </a:rPr>
              <a:t>A3</a:t>
            </a:r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1183C1B-767D-444A-969B-05B6297AF707}"/>
              </a:ext>
            </a:extLst>
          </p:cNvPr>
          <p:cNvSpPr txBox="1"/>
          <p:nvPr/>
        </p:nvSpPr>
        <p:spPr>
          <a:xfrm>
            <a:off x="1333500" y="29845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1B2A4A"/>
                </a:solidFill>
                <a:latin typeface="Georgia"/>
              </a:rPr>
              <a:t>Aleatoric Only</a:t>
            </a:r>
            <a:endParaRPr lang="zh-CN" altLang="en-US" sz="1500" b="1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E0F13C02-CC71-4371-B281-CBFC9E7AF139}"/>
              </a:ext>
            </a:extLst>
          </p:cNvPr>
          <p:cNvSpPr txBox="1"/>
          <p:nvPr/>
        </p:nvSpPr>
        <p:spPr>
          <a:xfrm>
            <a:off x="812800" y="33401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Heteroscedastic output head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p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(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y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|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) = 𝒩(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μ</a:t>
            </a:r>
            <a:r>
              <a:rPr lang="en-US" sz="1100" i="1" baseline="-25000" dirty="0">
                <a:solidFill>
                  <a:srgbClr val="2B5797"/>
                </a:solidFill>
                <a:latin typeface="Cambria Math"/>
              </a:rPr>
              <a:t>θ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(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),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11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100" i="1" baseline="-25000" dirty="0">
                <a:solidFill>
                  <a:srgbClr val="2B5797"/>
                </a:solidFill>
                <a:latin typeface="Cambria Math"/>
              </a:rPr>
              <a:t>θ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(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))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DB18DED9-B860-4E8F-849D-C3822921A39C}"/>
              </a:ext>
            </a:extLst>
          </p:cNvPr>
          <p:cNvSpPr txBox="1"/>
          <p:nvPr/>
        </p:nvSpPr>
        <p:spPr>
          <a:xfrm>
            <a:off x="812800" y="3975100"/>
            <a:ext cx="34544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i="1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Loss: Gaussian NLL | MC Dropout: No</a:t>
            </a:r>
            <a:endParaRPr lang="zh-CN" altLang="en-US" sz="1400" i="1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54" name="矩形: 圆角 53">
            <a:extLst>
              <a:ext uri="{FF2B5EF4-FFF2-40B4-BE49-F238E27FC236}">
                <a16:creationId xmlns:a16="http://schemas.microsoft.com/office/drawing/2014/main" id="{DA000D53-CB98-49AC-ABFD-1119CD737C9B}"/>
              </a:ext>
            </a:extLst>
          </p:cNvPr>
          <p:cNvSpPr/>
          <p:nvPr/>
        </p:nvSpPr>
        <p:spPr>
          <a:xfrm>
            <a:off x="4699000" y="2857500"/>
            <a:ext cx="3810000" cy="1587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206839D6-4811-438F-8FB5-15AE13D9E293}"/>
              </a:ext>
            </a:extLst>
          </p:cNvPr>
          <p:cNvSpPr/>
          <p:nvPr/>
        </p:nvSpPr>
        <p:spPr>
          <a:xfrm>
            <a:off x="4699000" y="2857500"/>
            <a:ext cx="50800" cy="15875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56" name="矩形: 圆角 55">
            <a:extLst>
              <a:ext uri="{FF2B5EF4-FFF2-40B4-BE49-F238E27FC236}">
                <a16:creationId xmlns:a16="http://schemas.microsoft.com/office/drawing/2014/main" id="{F4653D63-497B-4BD6-80E8-072A1097A0BE}"/>
              </a:ext>
            </a:extLst>
          </p:cNvPr>
          <p:cNvSpPr/>
          <p:nvPr/>
        </p:nvSpPr>
        <p:spPr>
          <a:xfrm>
            <a:off x="4876800" y="2984500"/>
            <a:ext cx="444500" cy="279400"/>
          </a:xfrm>
          <a:prstGeom prst="round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zh-CN" sz="1400" b="1">
                <a:solidFill>
                  <a:srgbClr val="FFFFFF"/>
                </a:solidFill>
              </a:rPr>
              <a:t>A4</a:t>
            </a:r>
            <a:endParaRPr lang="zh-CN" altLang="en-US" sz="1400" b="1">
              <a:solidFill>
                <a:srgbClr val="FFFFFF"/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920FAD7B-BCAA-4A7A-B9B7-806E0A6B4A4F}"/>
              </a:ext>
            </a:extLst>
          </p:cNvPr>
          <p:cNvSpPr txBox="1"/>
          <p:nvPr/>
        </p:nvSpPr>
        <p:spPr>
          <a:xfrm>
            <a:off x="5397500" y="29845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1B2A4A"/>
                </a:solidFill>
                <a:latin typeface="Georgia"/>
              </a:rPr>
              <a:t>Full Decomposition</a:t>
            </a:r>
            <a:endParaRPr lang="zh-CN" altLang="en-US" sz="1500" b="1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D0C7AFDB-B66B-40B2-96BE-8AD47C7AF7E0}"/>
              </a:ext>
            </a:extLst>
          </p:cNvPr>
          <p:cNvSpPr txBox="1"/>
          <p:nvPr/>
        </p:nvSpPr>
        <p:spPr>
          <a:xfrm>
            <a:off x="4876800" y="33401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Aft>
                <a:spcPts val="200"/>
              </a:spcAft>
              <a:buNone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Both uncertainty types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11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100" baseline="-25000" dirty="0">
                <a:solidFill>
                  <a:srgbClr val="2B5797"/>
                </a:solidFill>
                <a:latin typeface="Cambria Math"/>
              </a:rPr>
              <a:t>total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=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11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100" baseline="-25000" dirty="0">
                <a:solidFill>
                  <a:srgbClr val="2B5797"/>
                </a:solidFill>
                <a:latin typeface="Cambria Math"/>
              </a:rPr>
              <a:t>aleatoric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+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11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100" baseline="-25000" dirty="0">
                <a:solidFill>
                  <a:srgbClr val="2B5797"/>
                </a:solidFill>
                <a:latin typeface="Cambria Math"/>
              </a:rPr>
              <a:t>epistemic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AB761026-794F-42C3-8785-C6809EB49345}"/>
              </a:ext>
            </a:extLst>
          </p:cNvPr>
          <p:cNvSpPr txBox="1"/>
          <p:nvPr/>
        </p:nvSpPr>
        <p:spPr>
          <a:xfrm>
            <a:off x="4876800" y="3975100"/>
            <a:ext cx="34544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i="1">
                <a:solidFill>
                  <a:srgbClr val="6B7B8D"/>
                </a:solidFill>
                <a:latin typeface="Calibri"/>
                <a:ea typeface="Calibri"/>
                <a:cs typeface="Calibri"/>
              </a:rPr>
              <a:t>Loss: Gaussian NLL | MC Dropout: Yes (K=50)</a:t>
            </a:r>
            <a:endParaRPr lang="zh-CN" altLang="en-US" sz="1400" i="1">
              <a:solidFill>
                <a:srgbClr val="6B7B8D"/>
              </a:solidFill>
              <a:latin typeface="Calibri"/>
              <a:cs typeface="Calibri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F097B406-C0F0-46D1-B924-A2799630699C}"/>
              </a:ext>
            </a:extLst>
          </p:cNvPr>
          <p:cNvSpPr txBox="1"/>
          <p:nvPr/>
        </p:nvSpPr>
        <p:spPr>
          <a:xfrm>
            <a:off x="635000" y="4826000"/>
            <a:ext cx="4445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9BA7B4"/>
                </a:solidFill>
                <a:latin typeface="Calibri"/>
                <a:ea typeface="Calibri"/>
                <a:cs typeface="Calibri"/>
              </a:rPr>
              <a:t>ProbTSLANet — Uncertainty Quantification</a:t>
            </a:r>
            <a:endParaRPr lang="zh-CN" altLang="en-US" sz="1400">
              <a:solidFill>
                <a:srgbClr val="9BA7B4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3684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>
            <a:extLst>
              <a:ext uri="{FF2B5EF4-FFF2-40B4-BE49-F238E27FC236}">
                <a16:creationId xmlns:a16="http://schemas.microsoft.com/office/drawing/2014/main" id="{E49757E0-AB93-4966-9A79-16E8D391B6D4}"/>
              </a:ext>
            </a:extLst>
          </p:cNvPr>
          <p:cNvSpPr txBox="1"/>
          <p:nvPr/>
        </p:nvSpPr>
        <p:spPr>
          <a:xfrm>
            <a:off x="635000" y="254000"/>
            <a:ext cx="7874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1B2A4A"/>
                </a:solidFill>
                <a:latin typeface="Georgia"/>
              </a:rPr>
              <a:t>Training Pipeline</a:t>
            </a:r>
            <a:endParaRPr lang="zh-CN" altLang="en-US" sz="2400" b="1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5010509-2118-4217-A174-27F622B5677E}"/>
              </a:ext>
            </a:extLst>
          </p:cNvPr>
          <p:cNvSpPr/>
          <p:nvPr/>
        </p:nvSpPr>
        <p:spPr>
          <a:xfrm>
            <a:off x="635000" y="825500"/>
            <a:ext cx="1016000" cy="381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1F6429B-E129-4DCD-86CA-E25DBB5E3FF7}"/>
              </a:ext>
            </a:extLst>
          </p:cNvPr>
          <p:cNvSpPr/>
          <p:nvPr/>
        </p:nvSpPr>
        <p:spPr>
          <a:xfrm>
            <a:off x="635000" y="1041400"/>
            <a:ext cx="3810000" cy="3492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8EDBA2-AC21-40E5-A6F9-33DCD1AF6C76}"/>
              </a:ext>
            </a:extLst>
          </p:cNvPr>
          <p:cNvSpPr/>
          <p:nvPr/>
        </p:nvSpPr>
        <p:spPr>
          <a:xfrm>
            <a:off x="635000" y="1041400"/>
            <a:ext cx="50800" cy="3492500"/>
          </a:xfrm>
          <a:prstGeom prst="rect">
            <a:avLst/>
          </a:prstGeom>
          <a:solidFill>
            <a:srgbClr val="6C5B7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7D9DE81-9BA7-4643-80F1-8EF58087808D}"/>
              </a:ext>
            </a:extLst>
          </p:cNvPr>
          <p:cNvSpPr txBox="1"/>
          <p:nvPr/>
        </p:nvSpPr>
        <p:spPr>
          <a:xfrm>
            <a:off x="863600" y="1143000"/>
            <a:ext cx="3429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6C5B7B"/>
                </a:solidFill>
                <a:latin typeface="Georgia"/>
              </a:rPr>
              <a:t>Phase 1: Self-Supervised Pretraining</a:t>
            </a:r>
            <a:endParaRPr lang="zh-CN" altLang="en-US" sz="1500" b="1">
              <a:solidFill>
                <a:srgbClr val="6C5B7B"/>
              </a:solidFill>
              <a:latin typeface="Georgia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082FAC2-86D9-4683-B06E-B7207E13EBE9}"/>
              </a:ext>
            </a:extLst>
          </p:cNvPr>
          <p:cNvSpPr txBox="1"/>
          <p:nvPr/>
        </p:nvSpPr>
        <p:spPr>
          <a:xfrm>
            <a:off x="863600" y="1629298"/>
            <a:ext cx="3429000" cy="292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Calibri"/>
              </a:rPr>
              <a:t>Masked Patch Reconstruction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Randomly mask 40% of patches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Reconstruct via MSE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5 epochs, AdamW (lr=1e-4)</a:t>
            </a:r>
          </a:p>
          <a:p>
            <a:pPr marL="228600" indent="-228600">
              <a:spcAft>
                <a:spcPts val="6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Best val loss checkpoint restored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6B7B8D"/>
                </a:solidFill>
                <a:latin typeface="Calibri"/>
              </a:rPr>
              <a:t>Purpose: Learn temporal structure before supervised fine-tuning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69807107-2B44-4672-9D63-94061D03DC43}"/>
              </a:ext>
            </a:extLst>
          </p:cNvPr>
          <p:cNvSpPr/>
          <p:nvPr/>
        </p:nvSpPr>
        <p:spPr>
          <a:xfrm>
            <a:off x="4699000" y="1041400"/>
            <a:ext cx="3810000" cy="3492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3F7D7C1-BF6D-4880-A7C3-D812C9C327EB}"/>
              </a:ext>
            </a:extLst>
          </p:cNvPr>
          <p:cNvSpPr/>
          <p:nvPr/>
        </p:nvSpPr>
        <p:spPr>
          <a:xfrm>
            <a:off x="4699000" y="1041400"/>
            <a:ext cx="50800" cy="34925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A19C87D-2522-4065-9328-73163A0799E1}"/>
              </a:ext>
            </a:extLst>
          </p:cNvPr>
          <p:cNvSpPr txBox="1"/>
          <p:nvPr/>
        </p:nvSpPr>
        <p:spPr>
          <a:xfrm>
            <a:off x="4927600" y="1143000"/>
            <a:ext cx="3429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2B5797"/>
                </a:solidFill>
                <a:latin typeface="Georgia"/>
              </a:rPr>
              <a:t>Phase 2: Supervised Fine-Tuning</a:t>
            </a:r>
            <a:endParaRPr lang="zh-CN" altLang="en-US" sz="1500" b="1">
              <a:solidFill>
                <a:srgbClr val="2B5797"/>
              </a:solidFill>
              <a:latin typeface="Georgia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1374269-8A84-41EA-8226-ACEA7D594EA7}"/>
              </a:ext>
            </a:extLst>
          </p:cNvPr>
          <p:cNvSpPr txBox="1"/>
          <p:nvPr/>
        </p:nvSpPr>
        <p:spPr>
          <a:xfrm>
            <a:off x="4927600" y="1524000"/>
            <a:ext cx="3429000" cy="292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1B2A4A"/>
                </a:solidFill>
                <a:latin typeface="Calibri"/>
              </a:rPr>
              <a:t>Forecasting Objective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15 epochs, AdamW + ReduceLROnPlateau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Gradient clipping (max_norm = 4.0)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A1/A2: MSE loss (point estimates)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A3/A4: Gaussian NLL loss</a:t>
            </a:r>
          </a:p>
          <a:p>
            <a:pPr marL="34290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B5797"/>
                </a:solidFill>
                <a:latin typeface="Cambria Math"/>
              </a:rPr>
              <a:t>ℒ = ½(log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11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+ (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y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−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μ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)</a:t>
            </a:r>
            <a:r>
              <a:rPr lang="en-US" sz="11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/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11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)</a:t>
            </a:r>
          </a:p>
          <a:p>
            <a:pPr marL="228600" indent="-228600">
              <a:buFont typeface="Arial"/>
              <a:buChar char="•"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log_var clamped to [−10, 10]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B05DD3C-0960-4FFA-B6D5-83A9D19EC1E5}"/>
              </a:ext>
            </a:extLst>
          </p:cNvPr>
          <p:cNvSpPr txBox="1"/>
          <p:nvPr/>
        </p:nvSpPr>
        <p:spPr>
          <a:xfrm>
            <a:off x="635000" y="4826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9BA7B4"/>
                </a:solidFill>
                <a:latin typeface="Calibri"/>
                <a:ea typeface="Calibri"/>
                <a:cs typeface="Calibri"/>
              </a:rPr>
              <a:t>ProbTSLANet — Training</a:t>
            </a:r>
            <a:endParaRPr lang="zh-CN" altLang="en-US" sz="1400">
              <a:solidFill>
                <a:srgbClr val="9BA7B4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2201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100"/>
          <p:cNvSpPr txBox="1"/>
          <p:nvPr/>
        </p:nvSpPr>
        <p:spPr>
          <a:xfrm>
            <a:off x="508000" y="101600"/>
            <a:ext cx="8128000" cy="4445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l"/>
            <a:r>
              <a:rPr lang="en-US" sz="2000" b="1" dirty="0">
                <a:solidFill>
                  <a:srgbClr val="1B2A4A"/>
                </a:solidFill>
                <a:latin typeface="Georgia"/>
              </a:rPr>
              <a:t>Architecture Overview: ProbTSLANet Pipeline</a:t>
            </a:r>
          </a:p>
        </p:txBody>
      </p:sp>
      <p:sp>
        <p:nvSpPr>
          <p:cNvPr id="101" name="S101"/>
          <p:cNvSpPr/>
          <p:nvPr/>
        </p:nvSpPr>
        <p:spPr>
          <a:xfrm>
            <a:off x="508000" y="546100"/>
            <a:ext cx="1016000" cy="31750"/>
          </a:xfrm>
          <a:prstGeom prst="rect">
            <a:avLst/>
          </a:prstGeom>
          <a:solidFill>
            <a:srgbClr val="2B5797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02" name="T102"/>
          <p:cNvSpPr txBox="1"/>
          <p:nvPr/>
        </p:nvSpPr>
        <p:spPr>
          <a:xfrm>
            <a:off x="508000" y="609600"/>
            <a:ext cx="8128000" cy="2286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l"/>
            <a:r>
              <a:rPr lang="en-US" sz="1100" dirty="0">
                <a:solidFill>
                  <a:srgbClr val="6B7B8D"/>
                </a:solidFill>
                <a:latin typeface="Calibri"/>
              </a:rPr>
              <a:t>End-to-end data flow from raw input to probabilistic output</a:t>
            </a:r>
          </a:p>
        </p:txBody>
      </p:sp>
      <p:sp>
        <p:nvSpPr>
          <p:cNvPr id="103" name="T103"/>
          <p:cNvSpPr txBox="1"/>
          <p:nvPr/>
        </p:nvSpPr>
        <p:spPr>
          <a:xfrm>
            <a:off x="508000" y="800100"/>
            <a:ext cx="3810000" cy="1778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l"/>
            <a:r>
              <a:rPr lang="en-US" sz="900" b="1" dirty="0">
                <a:solidFill>
                  <a:srgbClr val="6B7B8D"/>
                </a:solidFill>
                <a:latin typeface="Calibri"/>
              </a:rPr>
              <a:t>DATA PREPROCESSING</a:t>
            </a:r>
          </a:p>
        </p:txBody>
      </p:sp>
      <p:sp>
        <p:nvSpPr>
          <p:cNvPr id="104" name="S104"/>
          <p:cNvSpPr/>
          <p:nvPr/>
        </p:nvSpPr>
        <p:spPr>
          <a:xfrm>
            <a:off x="508000" y="952500"/>
            <a:ext cx="1041400" cy="533400"/>
          </a:xfrm>
          <a:prstGeom prst="roundRect">
            <a:avLst/>
          </a:prstGeom>
          <a:solidFill>
            <a:srgbClr val="E8EDF3"/>
          </a:solidFill>
          <a:ln w="12700">
            <a:solidFill>
              <a:srgbClr val="2B5797"/>
            </a:solidFill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05" name="T105"/>
          <p:cNvSpPr txBox="1"/>
          <p:nvPr/>
        </p:nvSpPr>
        <p:spPr>
          <a:xfrm>
            <a:off x="508000" y="977900"/>
            <a:ext cx="1041400" cy="2794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100" b="1" dirty="0">
                <a:solidFill>
                  <a:srgbClr val="2B5797"/>
                </a:solidFill>
                <a:latin typeface="Calibri"/>
              </a:rPr>
              <a:t>Raw Input</a:t>
            </a:r>
          </a:p>
        </p:txBody>
      </p:sp>
      <p:sp>
        <p:nvSpPr>
          <p:cNvPr id="106" name="T106"/>
          <p:cNvSpPr txBox="1"/>
          <p:nvPr/>
        </p:nvSpPr>
        <p:spPr>
          <a:xfrm>
            <a:off x="508000" y="1231900"/>
            <a:ext cx="1041400" cy="2286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0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000" dirty="0">
                <a:solidFill>
                  <a:srgbClr val="2B5797"/>
                </a:solidFill>
                <a:latin typeface="Cambria Math"/>
              </a:rPr>
              <a:t> ∈ ℝ</a:t>
            </a:r>
            <a:r>
              <a:rPr lang="en-US" sz="800" baseline="30000" dirty="0">
                <a:solidFill>
                  <a:srgbClr val="2B5797"/>
                </a:solidFill>
                <a:latin typeface="Cambria Math"/>
              </a:rPr>
              <a:t>B×L×M</a:t>
            </a:r>
          </a:p>
        </p:txBody>
      </p:sp>
      <p:sp>
        <p:nvSpPr>
          <p:cNvPr id="107" name="S107"/>
          <p:cNvSpPr/>
          <p:nvPr/>
        </p:nvSpPr>
        <p:spPr>
          <a:xfrm>
            <a:off x="1600200" y="1143000"/>
            <a:ext cx="228600" cy="152400"/>
          </a:xfrm>
          <a:prstGeom prst="rightArrow">
            <a:avLst/>
          </a:prstGeom>
          <a:solidFill>
            <a:srgbClr val="9BA7B4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08" name="S108"/>
          <p:cNvSpPr/>
          <p:nvPr/>
        </p:nvSpPr>
        <p:spPr>
          <a:xfrm>
            <a:off x="1879600" y="952500"/>
            <a:ext cx="1041400" cy="53340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6C5B7B"/>
            </a:solidFill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09" name="T109"/>
          <p:cNvSpPr txBox="1"/>
          <p:nvPr/>
        </p:nvSpPr>
        <p:spPr>
          <a:xfrm>
            <a:off x="1879600" y="977900"/>
            <a:ext cx="1041400" cy="2794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100" b="1" dirty="0">
                <a:solidFill>
                  <a:srgbClr val="6C5B7B"/>
                </a:solidFill>
                <a:latin typeface="Calibri"/>
              </a:rPr>
              <a:t>RevIN Norm</a:t>
            </a:r>
          </a:p>
        </p:txBody>
      </p:sp>
      <p:sp>
        <p:nvSpPr>
          <p:cNvPr id="110" name="T110"/>
          <p:cNvSpPr txBox="1"/>
          <p:nvPr/>
        </p:nvSpPr>
        <p:spPr>
          <a:xfrm>
            <a:off x="1879600" y="1231900"/>
            <a:ext cx="1041400" cy="2286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000" i="1" dirty="0">
                <a:solidFill>
                  <a:srgbClr val="6C5B7B"/>
                </a:solidFill>
                <a:latin typeface="Cambria Math"/>
              </a:rPr>
              <a:t>x̃</a:t>
            </a:r>
            <a:r>
              <a:rPr lang="en-US" sz="1000" dirty="0">
                <a:solidFill>
                  <a:srgbClr val="6C5B7B"/>
                </a:solidFill>
                <a:latin typeface="Cambria Math"/>
              </a:rPr>
              <a:t> = (</a:t>
            </a:r>
            <a:r>
              <a:rPr lang="en-US" sz="1000" i="1" dirty="0">
                <a:solidFill>
                  <a:srgbClr val="6C5B7B"/>
                </a:solidFill>
                <a:latin typeface="Cambria Math"/>
              </a:rPr>
              <a:t>x</a:t>
            </a:r>
            <a:r>
              <a:rPr lang="en-US" sz="1000" dirty="0">
                <a:solidFill>
                  <a:srgbClr val="6C5B7B"/>
                </a:solidFill>
                <a:latin typeface="Cambria Math"/>
              </a:rPr>
              <a:t> − </a:t>
            </a:r>
            <a:r>
              <a:rPr lang="en-US" sz="1000" i="1" dirty="0">
                <a:solidFill>
                  <a:srgbClr val="6C5B7B"/>
                </a:solidFill>
                <a:latin typeface="Cambria Math"/>
              </a:rPr>
              <a:t>μ</a:t>
            </a:r>
            <a:r>
              <a:rPr lang="en-US" sz="1000" dirty="0">
                <a:solidFill>
                  <a:srgbClr val="6C5B7B"/>
                </a:solidFill>
                <a:latin typeface="Cambria Math"/>
              </a:rPr>
              <a:t>) / </a:t>
            </a:r>
            <a:r>
              <a:rPr lang="en-US" sz="1000" i="1" dirty="0">
                <a:solidFill>
                  <a:srgbClr val="6C5B7B"/>
                </a:solidFill>
                <a:latin typeface="Cambria Math"/>
              </a:rPr>
              <a:t>σ</a:t>
            </a:r>
          </a:p>
        </p:txBody>
      </p:sp>
      <p:sp>
        <p:nvSpPr>
          <p:cNvPr id="111" name="S111"/>
          <p:cNvSpPr/>
          <p:nvPr/>
        </p:nvSpPr>
        <p:spPr>
          <a:xfrm>
            <a:off x="2971800" y="1143000"/>
            <a:ext cx="228600" cy="152400"/>
          </a:xfrm>
          <a:prstGeom prst="rightArrow">
            <a:avLst/>
          </a:prstGeom>
          <a:solidFill>
            <a:srgbClr val="9BA7B4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12" name="S112"/>
          <p:cNvSpPr/>
          <p:nvPr/>
        </p:nvSpPr>
        <p:spPr>
          <a:xfrm>
            <a:off x="3251200" y="952500"/>
            <a:ext cx="1168400" cy="5334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B5797"/>
            </a:solidFill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13" name="T113"/>
          <p:cNvSpPr txBox="1"/>
          <p:nvPr/>
        </p:nvSpPr>
        <p:spPr>
          <a:xfrm>
            <a:off x="3251200" y="977900"/>
            <a:ext cx="1168400" cy="2794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100" b="1" dirty="0">
                <a:solidFill>
                  <a:srgbClr val="2B5797"/>
                </a:solidFill>
                <a:latin typeface="Calibri"/>
              </a:rPr>
              <a:t>Patching</a:t>
            </a:r>
          </a:p>
        </p:txBody>
      </p:sp>
      <p:sp>
        <p:nvSpPr>
          <p:cNvPr id="114" name="T114"/>
          <p:cNvSpPr txBox="1"/>
          <p:nvPr/>
        </p:nvSpPr>
        <p:spPr>
          <a:xfrm>
            <a:off x="3251200" y="1231900"/>
            <a:ext cx="1168400" cy="2286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000" i="1" dirty="0">
                <a:solidFill>
                  <a:srgbClr val="2B5797"/>
                </a:solidFill>
                <a:latin typeface="Cambria Math"/>
              </a:rPr>
              <a:t>p</a:t>
            </a:r>
            <a:r>
              <a:rPr lang="en-US" sz="1000" dirty="0">
                <a:solidFill>
                  <a:srgbClr val="2B5797"/>
                </a:solidFill>
                <a:latin typeface="Cambria Math"/>
              </a:rPr>
              <a:t>=16, </a:t>
            </a:r>
            <a:r>
              <a:rPr lang="en-US" sz="1000" i="1" dirty="0">
                <a:solidFill>
                  <a:srgbClr val="2B5797"/>
                </a:solidFill>
                <a:latin typeface="Cambria Math"/>
              </a:rPr>
              <a:t>s</a:t>
            </a:r>
            <a:r>
              <a:rPr lang="en-US" sz="1000" dirty="0">
                <a:solidFill>
                  <a:srgbClr val="2B5797"/>
                </a:solidFill>
                <a:latin typeface="Cambria Math"/>
              </a:rPr>
              <a:t>=8</a:t>
            </a:r>
          </a:p>
        </p:txBody>
      </p:sp>
      <p:sp>
        <p:nvSpPr>
          <p:cNvPr id="115" name="S115"/>
          <p:cNvSpPr/>
          <p:nvPr/>
        </p:nvSpPr>
        <p:spPr>
          <a:xfrm>
            <a:off x="4470400" y="1143000"/>
            <a:ext cx="228600" cy="152400"/>
          </a:xfrm>
          <a:prstGeom prst="rightArrow">
            <a:avLst/>
          </a:prstGeom>
          <a:solidFill>
            <a:srgbClr val="9BA7B4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16" name="S116"/>
          <p:cNvSpPr/>
          <p:nvPr/>
        </p:nvSpPr>
        <p:spPr>
          <a:xfrm>
            <a:off x="4749800" y="952500"/>
            <a:ext cx="1270000" cy="533400"/>
          </a:xfrm>
          <a:prstGeom prst="roundRect">
            <a:avLst/>
          </a:prstGeom>
          <a:solidFill>
            <a:srgbClr val="E3F2FD"/>
          </a:solidFill>
          <a:ln w="12700">
            <a:solidFill>
              <a:srgbClr val="2B5797"/>
            </a:solidFill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17" name="T117"/>
          <p:cNvSpPr txBox="1"/>
          <p:nvPr/>
        </p:nvSpPr>
        <p:spPr>
          <a:xfrm>
            <a:off x="4749800" y="977900"/>
            <a:ext cx="1270000" cy="2794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100" b="1" dirty="0">
                <a:solidFill>
                  <a:srgbClr val="2B5797"/>
                </a:solidFill>
                <a:latin typeface="Calibri"/>
              </a:rPr>
              <a:t>Linear Embed</a:t>
            </a:r>
          </a:p>
        </p:txBody>
      </p:sp>
      <p:sp>
        <p:nvSpPr>
          <p:cNvPr id="118" name="T118"/>
          <p:cNvSpPr txBox="1"/>
          <p:nvPr/>
        </p:nvSpPr>
        <p:spPr>
          <a:xfrm>
            <a:off x="4749800" y="1231900"/>
            <a:ext cx="1270000" cy="2286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000" dirty="0">
                <a:solidFill>
                  <a:srgbClr val="2B5797"/>
                </a:solidFill>
                <a:latin typeface="Cambria Math"/>
              </a:rPr>
              <a:t>16 → </a:t>
            </a:r>
            <a:r>
              <a:rPr lang="en-US" sz="1000" i="1" dirty="0">
                <a:solidFill>
                  <a:srgbClr val="2B5797"/>
                </a:solidFill>
                <a:latin typeface="Cambria Math"/>
              </a:rPr>
              <a:t>d</a:t>
            </a:r>
            <a:r>
              <a:rPr lang="en-US" sz="1000" dirty="0">
                <a:solidFill>
                  <a:srgbClr val="2B5797"/>
                </a:solidFill>
                <a:latin typeface="Cambria Math"/>
              </a:rPr>
              <a:t>=32</a:t>
            </a:r>
          </a:p>
        </p:txBody>
      </p:sp>
      <p:sp>
        <p:nvSpPr>
          <p:cNvPr id="119" name="T119"/>
          <p:cNvSpPr txBox="1"/>
          <p:nvPr/>
        </p:nvSpPr>
        <p:spPr>
          <a:xfrm>
            <a:off x="4749800" y="1562100"/>
            <a:ext cx="1270000" cy="1778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900" dirty="0">
                <a:solidFill>
                  <a:srgbClr val="9BA7B4"/>
                </a:solidFill>
                <a:latin typeface="Calibri"/>
              </a:rPr>
              <a:t>Output: (</a:t>
            </a:r>
            <a:r>
              <a:rPr lang="en-US" sz="900" i="1" dirty="0">
                <a:solidFill>
                  <a:srgbClr val="9BA7B4"/>
                </a:solidFill>
                <a:latin typeface="Cambria Math"/>
              </a:rPr>
              <a:t>B·M</a:t>
            </a:r>
            <a:r>
              <a:rPr lang="en-US" sz="900" dirty="0">
                <a:solidFill>
                  <a:srgbClr val="9BA7B4"/>
                </a:solidFill>
                <a:latin typeface="Calibri"/>
              </a:rPr>
              <a:t>, 11, 32)</a:t>
            </a:r>
          </a:p>
        </p:txBody>
      </p:sp>
      <p:sp>
        <p:nvSpPr>
          <p:cNvPr id="120" name="S120"/>
          <p:cNvSpPr/>
          <p:nvPr/>
        </p:nvSpPr>
        <p:spPr>
          <a:xfrm>
            <a:off x="4508500" y="1714500"/>
            <a:ext cx="177800" cy="279400"/>
          </a:xfrm>
          <a:prstGeom prst="downArrow">
            <a:avLst/>
          </a:prstGeom>
          <a:solidFill>
            <a:srgbClr val="9BA7B4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21" name="T121"/>
          <p:cNvSpPr txBox="1"/>
          <p:nvPr/>
        </p:nvSpPr>
        <p:spPr>
          <a:xfrm>
            <a:off x="508000" y="1917700"/>
            <a:ext cx="3810000" cy="1778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l"/>
            <a:r>
              <a:rPr lang="en-US" sz="900" b="1" dirty="0">
                <a:solidFill>
                  <a:srgbClr val="6B7B8D"/>
                </a:solidFill>
                <a:latin typeface="Calibri"/>
              </a:rPr>
              <a:t>FEATURE EXTRACTION (×2 BLOCKS)</a:t>
            </a:r>
          </a:p>
        </p:txBody>
      </p:sp>
      <p:sp>
        <p:nvSpPr>
          <p:cNvPr id="122" name="S122"/>
          <p:cNvSpPr/>
          <p:nvPr/>
        </p:nvSpPr>
        <p:spPr>
          <a:xfrm>
            <a:off x="508000" y="2070100"/>
            <a:ext cx="8128000" cy="69850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E67E22"/>
            </a:solidFill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23" name="S123"/>
          <p:cNvSpPr/>
          <p:nvPr/>
        </p:nvSpPr>
        <p:spPr>
          <a:xfrm>
            <a:off x="698500" y="2171700"/>
            <a:ext cx="889000" cy="482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24" name="T124"/>
          <p:cNvSpPr txBox="1"/>
          <p:nvPr/>
        </p:nvSpPr>
        <p:spPr>
          <a:xfrm>
            <a:off x="698500" y="2171700"/>
            <a:ext cx="889000" cy="4826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000" b="1" dirty="0">
                <a:solidFill>
                  <a:srgbClr val="E67E22"/>
                </a:solidFill>
                <a:latin typeface="Calibri"/>
              </a:rPr>
              <a:t>LayerNorm</a:t>
            </a:r>
          </a:p>
        </p:txBody>
      </p:sp>
      <p:sp>
        <p:nvSpPr>
          <p:cNvPr id="125" name="S125"/>
          <p:cNvSpPr/>
          <p:nvPr/>
        </p:nvSpPr>
        <p:spPr>
          <a:xfrm>
            <a:off x="1651000" y="2349500"/>
            <a:ext cx="203200" cy="127000"/>
          </a:xfrm>
          <a:prstGeom prst="rightArrow">
            <a:avLst/>
          </a:prstGeom>
          <a:solidFill>
            <a:srgbClr val="E67E22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26" name="S126"/>
          <p:cNvSpPr/>
          <p:nvPr/>
        </p:nvSpPr>
        <p:spPr>
          <a:xfrm>
            <a:off x="1917700" y="2171700"/>
            <a:ext cx="1778000" cy="482600"/>
          </a:xfrm>
          <a:prstGeom prst="roundRect">
            <a:avLst/>
          </a:prstGeom>
          <a:solidFill>
            <a:srgbClr val="2B5797"/>
          </a:solidFill>
          <a:ln w="6350">
            <a:solidFill>
              <a:srgbClr val="1B2A4A"/>
            </a:solidFill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27" name="T127"/>
          <p:cNvSpPr txBox="1"/>
          <p:nvPr/>
        </p:nvSpPr>
        <p:spPr>
          <a:xfrm>
            <a:off x="1917700" y="2171700"/>
            <a:ext cx="1778000" cy="2540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Adaptive Spectral Block</a:t>
            </a:r>
          </a:p>
        </p:txBody>
      </p:sp>
      <p:sp>
        <p:nvSpPr>
          <p:cNvPr id="128" name="T128"/>
          <p:cNvSpPr txBox="1"/>
          <p:nvPr/>
        </p:nvSpPr>
        <p:spPr>
          <a:xfrm>
            <a:off x="1917700" y="2400300"/>
            <a:ext cx="1778000" cy="2286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900" dirty="0">
                <a:solidFill>
                  <a:srgbClr val="C5D9F0"/>
                </a:solidFill>
                <a:latin typeface="Cambria Math"/>
              </a:rPr>
              <a:t>FFT → W·</a:t>
            </a:r>
            <a:r>
              <a:rPr lang="en-US" sz="900" i="1" dirty="0">
                <a:solidFill>
                  <a:srgbClr val="C5D9F0"/>
                </a:solidFill>
                <a:latin typeface="Cambria Math"/>
              </a:rPr>
              <a:t>X̂</a:t>
            </a:r>
            <a:r>
              <a:rPr lang="en-US" sz="900" dirty="0">
                <a:solidFill>
                  <a:srgbClr val="C5D9F0"/>
                </a:solidFill>
                <a:latin typeface="Cambria Math"/>
              </a:rPr>
              <a:t> + mask → IFFT</a:t>
            </a:r>
          </a:p>
        </p:txBody>
      </p:sp>
      <p:sp>
        <p:nvSpPr>
          <p:cNvPr id="129" name="S129"/>
          <p:cNvSpPr/>
          <p:nvPr/>
        </p:nvSpPr>
        <p:spPr>
          <a:xfrm>
            <a:off x="3759200" y="2349500"/>
            <a:ext cx="203200" cy="127000"/>
          </a:xfrm>
          <a:prstGeom prst="rightArrow">
            <a:avLst/>
          </a:prstGeom>
          <a:solidFill>
            <a:srgbClr val="E67E22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30" name="S130"/>
          <p:cNvSpPr/>
          <p:nvPr/>
        </p:nvSpPr>
        <p:spPr>
          <a:xfrm>
            <a:off x="4025900" y="2171700"/>
            <a:ext cx="889000" cy="4826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E67E22"/>
            </a:solidFill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31" name="T131"/>
          <p:cNvSpPr txBox="1"/>
          <p:nvPr/>
        </p:nvSpPr>
        <p:spPr>
          <a:xfrm>
            <a:off x="4025900" y="2171700"/>
            <a:ext cx="889000" cy="4826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000" b="1" dirty="0">
                <a:solidFill>
                  <a:srgbClr val="E67E22"/>
                </a:solidFill>
                <a:latin typeface="Calibri"/>
              </a:rPr>
              <a:t>LayerNorm</a:t>
            </a:r>
          </a:p>
        </p:txBody>
      </p:sp>
      <p:sp>
        <p:nvSpPr>
          <p:cNvPr id="132" name="S132"/>
          <p:cNvSpPr/>
          <p:nvPr/>
        </p:nvSpPr>
        <p:spPr>
          <a:xfrm>
            <a:off x="4978400" y="2349500"/>
            <a:ext cx="203200" cy="127000"/>
          </a:xfrm>
          <a:prstGeom prst="rightArrow">
            <a:avLst/>
          </a:prstGeom>
          <a:solidFill>
            <a:srgbClr val="E67E22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33" name="S133"/>
          <p:cNvSpPr/>
          <p:nvPr/>
        </p:nvSpPr>
        <p:spPr>
          <a:xfrm>
            <a:off x="5245100" y="2171700"/>
            <a:ext cx="1651000" cy="482600"/>
          </a:xfrm>
          <a:prstGeom prst="roundRect">
            <a:avLst/>
          </a:prstGeom>
          <a:solidFill>
            <a:srgbClr val="1A7A5C"/>
          </a:solidFill>
          <a:ln w="6350">
            <a:solidFill>
              <a:srgbClr val="145C45"/>
            </a:solidFill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34" name="T134"/>
          <p:cNvSpPr txBox="1"/>
          <p:nvPr/>
        </p:nvSpPr>
        <p:spPr>
          <a:xfrm>
            <a:off x="5245100" y="2171700"/>
            <a:ext cx="1651000" cy="2540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Interacting Conv Block</a:t>
            </a:r>
          </a:p>
        </p:txBody>
      </p:sp>
      <p:sp>
        <p:nvSpPr>
          <p:cNvPr id="135" name="T135"/>
          <p:cNvSpPr txBox="1"/>
          <p:nvPr/>
        </p:nvSpPr>
        <p:spPr>
          <a:xfrm>
            <a:off x="5245100" y="24003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900" i="1" dirty="0">
                <a:solidFill>
                  <a:srgbClr val="C5F0E0"/>
                </a:solidFill>
                <a:latin typeface="Cambria Math"/>
              </a:rPr>
              <a:t>x</a:t>
            </a:r>
            <a:r>
              <a:rPr lang="en-US" sz="700" baseline="-25000" dirty="0">
                <a:solidFill>
                  <a:srgbClr val="C5F0E0"/>
                </a:solidFill>
                <a:latin typeface="Cambria Math"/>
              </a:rPr>
              <a:t>1</a:t>
            </a:r>
            <a:r>
              <a:rPr lang="en-US" sz="900" dirty="0">
                <a:solidFill>
                  <a:srgbClr val="C5F0E0"/>
                </a:solidFill>
                <a:latin typeface="Cambria Math"/>
              </a:rPr>
              <a:t> ⊙ GELU(</a:t>
            </a:r>
            <a:r>
              <a:rPr lang="en-US" sz="900" i="1" dirty="0">
                <a:solidFill>
                  <a:srgbClr val="C5F0E0"/>
                </a:solidFill>
                <a:latin typeface="Cambria Math"/>
              </a:rPr>
              <a:t>x</a:t>
            </a:r>
            <a:r>
              <a:rPr lang="en-US" sz="700" baseline="-25000" dirty="0">
                <a:solidFill>
                  <a:srgbClr val="C5F0E0"/>
                </a:solidFill>
                <a:latin typeface="Cambria Math"/>
              </a:rPr>
              <a:t>2</a:t>
            </a:r>
            <a:r>
              <a:rPr lang="en-US" sz="900" dirty="0">
                <a:solidFill>
                  <a:srgbClr val="C5F0E0"/>
                </a:solidFill>
                <a:latin typeface="Cambria Math"/>
              </a:rPr>
              <a:t>)</a:t>
            </a:r>
          </a:p>
        </p:txBody>
      </p:sp>
      <p:sp>
        <p:nvSpPr>
          <p:cNvPr id="136" name="T136"/>
          <p:cNvSpPr txBox="1"/>
          <p:nvPr/>
        </p:nvSpPr>
        <p:spPr>
          <a:xfrm>
            <a:off x="508000" y="2794000"/>
            <a:ext cx="8128000" cy="1778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l"/>
            <a:r>
              <a:rPr lang="en-US" sz="900" dirty="0">
                <a:solidFill>
                  <a:srgbClr val="9BA7B4"/>
                </a:solidFill>
                <a:latin typeface="Calibri"/>
              </a:rPr>
              <a:t>Residual connection: </a:t>
            </a:r>
            <a:r>
              <a:rPr lang="en-US" sz="900" i="1" dirty="0">
                <a:solidFill>
                  <a:srgbClr val="E67E22"/>
                </a:solidFill>
                <a:latin typeface="Cambria Math"/>
              </a:rPr>
              <a:t>x</a:t>
            </a:r>
            <a:r>
              <a:rPr lang="en-US" sz="900" dirty="0">
                <a:solidFill>
                  <a:srgbClr val="9BA7B4"/>
                </a:solidFill>
                <a:latin typeface="Calibri"/>
              </a:rPr>
              <a:t> + DropPath(TSLANet_layer(</a:t>
            </a:r>
            <a:r>
              <a:rPr lang="en-US" sz="900" i="1" dirty="0">
                <a:solidFill>
                  <a:srgbClr val="E67E22"/>
                </a:solidFill>
                <a:latin typeface="Cambria Math"/>
              </a:rPr>
              <a:t>x</a:t>
            </a:r>
            <a:r>
              <a:rPr lang="en-US" sz="900" dirty="0">
                <a:solidFill>
                  <a:srgbClr val="9BA7B4"/>
                </a:solidFill>
                <a:latin typeface="Calibri"/>
              </a:rPr>
              <a:t>))       depth = 2, dropout = 0.3</a:t>
            </a:r>
          </a:p>
        </p:txBody>
      </p:sp>
      <p:sp>
        <p:nvSpPr>
          <p:cNvPr id="137" name="S137"/>
          <p:cNvSpPr/>
          <p:nvPr/>
        </p:nvSpPr>
        <p:spPr>
          <a:xfrm>
            <a:off x="4508500" y="2997200"/>
            <a:ext cx="177800" cy="279400"/>
          </a:xfrm>
          <a:prstGeom prst="downArrow">
            <a:avLst/>
          </a:prstGeom>
          <a:solidFill>
            <a:srgbClr val="9BA7B4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38" name="T138"/>
          <p:cNvSpPr txBox="1"/>
          <p:nvPr/>
        </p:nvSpPr>
        <p:spPr>
          <a:xfrm>
            <a:off x="508000" y="3200400"/>
            <a:ext cx="3810000" cy="1778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l"/>
            <a:r>
              <a:rPr lang="en-US" sz="900" b="1" dirty="0">
                <a:solidFill>
                  <a:srgbClr val="6B7B8D"/>
                </a:solidFill>
                <a:latin typeface="Calibri"/>
              </a:rPr>
              <a:t>OUTPUT STAGE</a:t>
            </a:r>
          </a:p>
        </p:txBody>
      </p:sp>
      <p:sp>
        <p:nvSpPr>
          <p:cNvPr id="139" name="S139"/>
          <p:cNvSpPr/>
          <p:nvPr/>
        </p:nvSpPr>
        <p:spPr>
          <a:xfrm>
            <a:off x="508000" y="3352800"/>
            <a:ext cx="1397000" cy="533400"/>
          </a:xfrm>
          <a:prstGeom prst="roundRect">
            <a:avLst/>
          </a:prstGeom>
          <a:solidFill>
            <a:srgbClr val="E8EDF3"/>
          </a:solidFill>
          <a:ln w="12700">
            <a:solidFill>
              <a:srgbClr val="2B5797"/>
            </a:solidFill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40" name="T140"/>
          <p:cNvSpPr txBox="1"/>
          <p:nvPr/>
        </p:nvSpPr>
        <p:spPr>
          <a:xfrm>
            <a:off x="508000" y="3378200"/>
            <a:ext cx="1397000" cy="2794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100" b="1" dirty="0">
                <a:solidFill>
                  <a:srgbClr val="2B5797"/>
                </a:solidFill>
                <a:latin typeface="Calibri"/>
              </a:rPr>
              <a:t>Flatten</a:t>
            </a:r>
          </a:p>
        </p:txBody>
      </p:sp>
      <p:sp>
        <p:nvSpPr>
          <p:cNvPr id="141" name="T141"/>
          <p:cNvSpPr txBox="1"/>
          <p:nvPr/>
        </p:nvSpPr>
        <p:spPr>
          <a:xfrm>
            <a:off x="508000" y="3632200"/>
            <a:ext cx="1397000" cy="2286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000" dirty="0">
                <a:solidFill>
                  <a:srgbClr val="2B5797"/>
                </a:solidFill>
                <a:latin typeface="Cambria Math"/>
              </a:rPr>
              <a:t>(</a:t>
            </a:r>
            <a:r>
              <a:rPr lang="en-US" sz="1000" i="1" dirty="0">
                <a:solidFill>
                  <a:srgbClr val="2B5797"/>
                </a:solidFill>
                <a:latin typeface="Cambria Math"/>
              </a:rPr>
              <a:t>B·M</a:t>
            </a:r>
            <a:r>
              <a:rPr lang="en-US" sz="1000" dirty="0">
                <a:solidFill>
                  <a:srgbClr val="2B5797"/>
                </a:solidFill>
                <a:latin typeface="Cambria Math"/>
              </a:rPr>
              <a:t>, 352)</a:t>
            </a:r>
          </a:p>
        </p:txBody>
      </p:sp>
      <p:sp>
        <p:nvSpPr>
          <p:cNvPr id="142" name="S142"/>
          <p:cNvSpPr/>
          <p:nvPr/>
        </p:nvSpPr>
        <p:spPr>
          <a:xfrm>
            <a:off x="1981200" y="3543300"/>
            <a:ext cx="254000" cy="152400"/>
          </a:xfrm>
          <a:prstGeom prst="rightArrow">
            <a:avLst/>
          </a:prstGeom>
          <a:solidFill>
            <a:srgbClr val="9BA7B4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43" name="S143"/>
          <p:cNvSpPr/>
          <p:nvPr/>
        </p:nvSpPr>
        <p:spPr>
          <a:xfrm>
            <a:off x="2311400" y="3302000"/>
            <a:ext cx="1778000" cy="355600"/>
          </a:xfrm>
          <a:prstGeom prst="roundRect">
            <a:avLst/>
          </a:prstGeom>
          <a:solidFill>
            <a:srgbClr val="2B5797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44" name="T144"/>
          <p:cNvSpPr txBox="1"/>
          <p:nvPr/>
        </p:nvSpPr>
        <p:spPr>
          <a:xfrm>
            <a:off x="2311400" y="3302000"/>
            <a:ext cx="1778000" cy="3556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200" i="1" dirty="0">
                <a:solidFill>
                  <a:srgbClr val="FFFFFF"/>
                </a:solidFill>
                <a:latin typeface="Cambria Math"/>
              </a:rPr>
              <a:t>μ</a:t>
            </a:r>
            <a:r>
              <a:rPr lang="en-US" sz="1000" dirty="0">
                <a:solidFill>
                  <a:srgbClr val="FFFFFF"/>
                </a:solidFill>
                <a:latin typeface="Calibri"/>
              </a:rPr>
              <a:t> head: Linear(352 → </a:t>
            </a:r>
            <a:r>
              <a:rPr lang="en-US" sz="1000" i="1" dirty="0">
                <a:solidFill>
                  <a:srgbClr val="FFFFFF"/>
                </a:solidFill>
                <a:latin typeface="Cambria Math"/>
              </a:rPr>
              <a:t>T</a:t>
            </a:r>
            <a:r>
              <a:rPr lang="en-US" sz="1000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145" name="S145"/>
          <p:cNvSpPr/>
          <p:nvPr/>
        </p:nvSpPr>
        <p:spPr>
          <a:xfrm>
            <a:off x="2311400" y="3708400"/>
            <a:ext cx="1778000" cy="355600"/>
          </a:xfrm>
          <a:prstGeom prst="roundRect">
            <a:avLst/>
          </a:prstGeom>
          <a:solidFill>
            <a:srgbClr val="C0392B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46" name="T146"/>
          <p:cNvSpPr txBox="1"/>
          <p:nvPr/>
        </p:nvSpPr>
        <p:spPr>
          <a:xfrm>
            <a:off x="2311400" y="3708400"/>
            <a:ext cx="1778000" cy="3556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mbria Math"/>
              </a:rPr>
              <a:t>log </a:t>
            </a:r>
            <a:r>
              <a:rPr lang="en-US" sz="1200" i="1" dirty="0">
                <a:solidFill>
                  <a:srgbClr val="FFFFFF"/>
                </a:solidFill>
                <a:latin typeface="Cambria Math"/>
              </a:rPr>
              <a:t>σ</a:t>
            </a:r>
            <a:r>
              <a:rPr lang="en-US" sz="900" baseline="30000" dirty="0">
                <a:solidFill>
                  <a:srgbClr val="FFFFFF"/>
                </a:solidFill>
                <a:latin typeface="Cambria Math"/>
              </a:rPr>
              <a:t>2</a:t>
            </a:r>
            <a:r>
              <a:rPr lang="en-US" sz="1000" dirty="0">
                <a:solidFill>
                  <a:srgbClr val="FFFFFF"/>
                </a:solidFill>
                <a:latin typeface="Calibri"/>
              </a:rPr>
              <a:t> head: Linear → </a:t>
            </a:r>
            <a:r>
              <a:rPr lang="en-US" sz="1000" i="1" dirty="0">
                <a:solidFill>
                  <a:srgbClr val="FFFFFF"/>
                </a:solidFill>
                <a:latin typeface="Cambria Math"/>
              </a:rPr>
              <a:t>T</a:t>
            </a:r>
          </a:p>
        </p:txBody>
      </p:sp>
      <p:sp>
        <p:nvSpPr>
          <p:cNvPr id="147" name="S147"/>
          <p:cNvSpPr/>
          <p:nvPr/>
        </p:nvSpPr>
        <p:spPr>
          <a:xfrm>
            <a:off x="4165600" y="3403600"/>
            <a:ext cx="228600" cy="152400"/>
          </a:xfrm>
          <a:prstGeom prst="rightArrow">
            <a:avLst/>
          </a:prstGeom>
          <a:solidFill>
            <a:srgbClr val="9BA7B4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48" name="S148"/>
          <p:cNvSpPr/>
          <p:nvPr/>
        </p:nvSpPr>
        <p:spPr>
          <a:xfrm>
            <a:off x="4165600" y="3810000"/>
            <a:ext cx="228600" cy="152400"/>
          </a:xfrm>
          <a:prstGeom prst="rightArrow">
            <a:avLst/>
          </a:prstGeom>
          <a:solidFill>
            <a:srgbClr val="9BA7B4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49" name="S149"/>
          <p:cNvSpPr/>
          <p:nvPr/>
        </p:nvSpPr>
        <p:spPr>
          <a:xfrm>
            <a:off x="4470400" y="3352800"/>
            <a:ext cx="1270000" cy="53340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6C5B7B"/>
            </a:solidFill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50" name="T150"/>
          <p:cNvSpPr txBox="1"/>
          <p:nvPr/>
        </p:nvSpPr>
        <p:spPr>
          <a:xfrm>
            <a:off x="4470400" y="3365500"/>
            <a:ext cx="1270000" cy="2286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000" b="1" dirty="0">
                <a:solidFill>
                  <a:srgbClr val="6C5B7B"/>
                </a:solidFill>
                <a:latin typeface="Calibri"/>
              </a:rPr>
              <a:t>RevIN Denorm</a:t>
            </a:r>
          </a:p>
        </p:txBody>
      </p:sp>
      <p:sp>
        <p:nvSpPr>
          <p:cNvPr id="151" name="T151"/>
          <p:cNvSpPr txBox="1"/>
          <p:nvPr/>
        </p:nvSpPr>
        <p:spPr>
          <a:xfrm>
            <a:off x="4470400" y="3581400"/>
            <a:ext cx="1270000" cy="3048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>
              <a:spcAft>
                <a:spcPts val="100"/>
              </a:spcAft>
            </a:pPr>
            <a:r>
              <a:rPr lang="en-US" sz="900" i="1" dirty="0">
                <a:solidFill>
                  <a:srgbClr val="6C5B7B"/>
                </a:solidFill>
                <a:latin typeface="Cambria Math"/>
              </a:rPr>
              <a:t>μ̃·σ</a:t>
            </a:r>
            <a:r>
              <a:rPr lang="en-US" sz="700" baseline="-25000" dirty="0">
                <a:solidFill>
                  <a:srgbClr val="6C5B7B"/>
                </a:solidFill>
                <a:latin typeface="Cambria Math"/>
              </a:rPr>
              <a:t>x</a:t>
            </a:r>
            <a:r>
              <a:rPr lang="en-US" sz="900" i="1" dirty="0">
                <a:solidFill>
                  <a:srgbClr val="6C5B7B"/>
                </a:solidFill>
                <a:latin typeface="Cambria Math"/>
              </a:rPr>
              <a:t> + μ</a:t>
            </a:r>
            <a:r>
              <a:rPr lang="en-US" sz="700" baseline="-25000" dirty="0">
                <a:solidFill>
                  <a:srgbClr val="6C5B7B"/>
                </a:solidFill>
                <a:latin typeface="Cambria Math"/>
              </a:rPr>
              <a:t>x</a:t>
            </a:r>
          </a:p>
          <a:p>
            <a:pPr algn="ctr"/>
            <a:r>
              <a:rPr lang="en-US" sz="900" i="1" dirty="0">
                <a:solidFill>
                  <a:srgbClr val="6C5B7B"/>
                </a:solidFill>
                <a:latin typeface="Cambria Math"/>
              </a:rPr>
              <a:t>+2 log σ</a:t>
            </a:r>
            <a:r>
              <a:rPr lang="en-US" sz="700" baseline="-25000" dirty="0">
                <a:solidFill>
                  <a:srgbClr val="6C5B7B"/>
                </a:solidFill>
                <a:latin typeface="Cambria Math"/>
              </a:rPr>
              <a:t>x</a:t>
            </a:r>
          </a:p>
        </p:txBody>
      </p:sp>
      <p:sp>
        <p:nvSpPr>
          <p:cNvPr id="152" name="S152"/>
          <p:cNvSpPr/>
          <p:nvPr/>
        </p:nvSpPr>
        <p:spPr>
          <a:xfrm>
            <a:off x="5816600" y="3543300"/>
            <a:ext cx="228600" cy="152400"/>
          </a:xfrm>
          <a:prstGeom prst="rightArrow">
            <a:avLst/>
          </a:prstGeom>
          <a:solidFill>
            <a:srgbClr val="9BA7B4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53" name="S153"/>
          <p:cNvSpPr/>
          <p:nvPr/>
        </p:nvSpPr>
        <p:spPr>
          <a:xfrm>
            <a:off x="6121400" y="3352800"/>
            <a:ext cx="1270000" cy="533400"/>
          </a:xfrm>
          <a:prstGeom prst="roundRect">
            <a:avLst/>
          </a:prstGeom>
          <a:solidFill>
            <a:srgbClr val="1A7A5C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54" name="T154"/>
          <p:cNvSpPr txBox="1"/>
          <p:nvPr/>
        </p:nvSpPr>
        <p:spPr>
          <a:xfrm>
            <a:off x="6121400" y="3365500"/>
            <a:ext cx="1270000" cy="2286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/>
              </a:rPr>
              <a:t>Probabilistic Output</a:t>
            </a:r>
          </a:p>
        </p:txBody>
      </p:sp>
      <p:sp>
        <p:nvSpPr>
          <p:cNvPr id="155" name="T155"/>
          <p:cNvSpPr txBox="1"/>
          <p:nvPr/>
        </p:nvSpPr>
        <p:spPr>
          <a:xfrm>
            <a:off x="6121400" y="3606800"/>
            <a:ext cx="1270000" cy="2794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ctr"/>
            <a:r>
              <a:rPr lang="en-US" sz="1100" i="1" dirty="0">
                <a:solidFill>
                  <a:srgbClr val="FFFFFF"/>
                </a:solidFill>
                <a:latin typeface="Cambria Math"/>
              </a:rPr>
              <a:t>μ</a:t>
            </a:r>
            <a:r>
              <a:rPr lang="en-US" sz="1000" dirty="0">
                <a:solidFill>
                  <a:srgbClr val="FFFFFF"/>
                </a:solidFill>
                <a:latin typeface="Cambria Math"/>
              </a:rPr>
              <a:t>,  log </a:t>
            </a:r>
            <a:r>
              <a:rPr lang="en-US" sz="1100" i="1" dirty="0">
                <a:solidFill>
                  <a:srgbClr val="FFFFFF"/>
                </a:solidFill>
                <a:latin typeface="Cambria Math"/>
              </a:rPr>
              <a:t>σ</a:t>
            </a:r>
            <a:r>
              <a:rPr lang="en-US" sz="800" baseline="30000" dirty="0">
                <a:solidFill>
                  <a:srgbClr val="FFFFFF"/>
                </a:solidFill>
                <a:latin typeface="Cambria Math"/>
              </a:rPr>
              <a:t>2</a:t>
            </a:r>
          </a:p>
        </p:txBody>
      </p:sp>
      <p:sp>
        <p:nvSpPr>
          <p:cNvPr id="156" name="S156"/>
          <p:cNvSpPr/>
          <p:nvPr/>
        </p:nvSpPr>
        <p:spPr>
          <a:xfrm>
            <a:off x="508000" y="4038600"/>
            <a:ext cx="3937000" cy="609600"/>
          </a:xfrm>
          <a:prstGeom prst="roundRect">
            <a:avLst/>
          </a:prstGeom>
          <a:solidFill>
            <a:srgbClr val="F2F4F8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57" name="S157"/>
          <p:cNvSpPr/>
          <p:nvPr/>
        </p:nvSpPr>
        <p:spPr>
          <a:xfrm>
            <a:off x="508000" y="4038600"/>
            <a:ext cx="50800" cy="6096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58" name="T158"/>
          <p:cNvSpPr txBox="1"/>
          <p:nvPr/>
        </p:nvSpPr>
        <p:spPr>
          <a:xfrm>
            <a:off x="635000" y="4064000"/>
            <a:ext cx="3683000" cy="2032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l"/>
            <a:r>
              <a:rPr lang="en-US" sz="1100" b="1" dirty="0">
                <a:solidFill>
                  <a:srgbClr val="C0392B"/>
                </a:solidFill>
                <a:latin typeface="Georgia"/>
              </a:rPr>
              <a:t>Loss: Gaussian NLL (A3/A4)</a:t>
            </a:r>
          </a:p>
        </p:txBody>
      </p:sp>
      <p:sp>
        <p:nvSpPr>
          <p:cNvPr id="159" name="T159"/>
          <p:cNvSpPr txBox="1"/>
          <p:nvPr/>
        </p:nvSpPr>
        <p:spPr>
          <a:xfrm>
            <a:off x="635000" y="4292600"/>
            <a:ext cx="3683000" cy="3048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l"/>
            <a:r>
              <a:rPr lang="en-US" sz="1300" dirty="0">
                <a:solidFill>
                  <a:srgbClr val="2B5797"/>
                </a:solidFill>
                <a:latin typeface="Cambria Math"/>
              </a:rPr>
              <a:t>ℒ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 = ½(log 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9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 + (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y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 − 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μ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)</a:t>
            </a:r>
            <a:r>
              <a:rPr lang="en-US" sz="9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 / 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9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)</a:t>
            </a:r>
          </a:p>
        </p:txBody>
      </p:sp>
      <p:sp>
        <p:nvSpPr>
          <p:cNvPr id="160" name="S160"/>
          <p:cNvSpPr/>
          <p:nvPr/>
        </p:nvSpPr>
        <p:spPr>
          <a:xfrm>
            <a:off x="4699000" y="4038600"/>
            <a:ext cx="3937000" cy="609600"/>
          </a:xfrm>
          <a:prstGeom prst="roundRect">
            <a:avLst/>
          </a:prstGeom>
          <a:solidFill>
            <a:srgbClr val="F2F4F8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61" name="S161"/>
          <p:cNvSpPr/>
          <p:nvPr/>
        </p:nvSpPr>
        <p:spPr>
          <a:xfrm>
            <a:off x="4699000" y="4038600"/>
            <a:ext cx="50800" cy="609600"/>
          </a:xfrm>
          <a:prstGeom prst="rect">
            <a:avLst/>
          </a:prstGeom>
          <a:solidFill>
            <a:srgbClr val="E67E22"/>
          </a:solidFill>
          <a:ln w="0">
            <a:noFill/>
          </a:ln>
        </p:spPr>
        <p:txBody>
          <a:bodyPr lIns="36000" tIns="18000" rIns="36000" bIns="18000" anchor="ctr" anchorCtr="0"/>
          <a:lstStyle/>
          <a:p>
            <a:endParaRPr lang="en-US" sz="100"/>
          </a:p>
        </p:txBody>
      </p:sp>
      <p:sp>
        <p:nvSpPr>
          <p:cNvPr id="162" name="T162"/>
          <p:cNvSpPr txBox="1"/>
          <p:nvPr/>
        </p:nvSpPr>
        <p:spPr>
          <a:xfrm>
            <a:off x="4826000" y="4064000"/>
            <a:ext cx="3683000" cy="2032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l"/>
            <a:r>
              <a:rPr lang="en-US" sz="1100" b="1" dirty="0">
                <a:solidFill>
                  <a:srgbClr val="E67E22"/>
                </a:solidFill>
                <a:latin typeface="Georgia"/>
              </a:rPr>
              <a:t>Inference: MC Dropout (A2/A4)</a:t>
            </a:r>
          </a:p>
        </p:txBody>
      </p:sp>
      <p:sp>
        <p:nvSpPr>
          <p:cNvPr id="163" name="T163"/>
          <p:cNvSpPr txBox="1"/>
          <p:nvPr/>
        </p:nvSpPr>
        <p:spPr>
          <a:xfrm>
            <a:off x="4826000" y="4292600"/>
            <a:ext cx="3683000" cy="3048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l"/>
            <a:r>
              <a:rPr lang="en-US" sz="11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9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800" baseline="-25000" dirty="0">
                <a:solidFill>
                  <a:srgbClr val="2B5797"/>
                </a:solidFill>
                <a:latin typeface="Cambria Math"/>
              </a:rPr>
              <a:t>epist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 = Var</a:t>
            </a:r>
            <a:r>
              <a:rPr lang="en-US" sz="800" i="1" baseline="-25000" dirty="0">
                <a:solidFill>
                  <a:srgbClr val="2B5797"/>
                </a:solidFill>
                <a:latin typeface="Cambria Math"/>
              </a:rPr>
              <a:t>k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[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f</a:t>
            </a:r>
            <a:r>
              <a:rPr lang="en-US" sz="800" i="1" baseline="-25000" dirty="0">
                <a:solidFill>
                  <a:srgbClr val="2B5797"/>
                </a:solidFill>
                <a:latin typeface="Cambria Math"/>
              </a:rPr>
              <a:t>θ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(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)]     </a:t>
            </a:r>
            <a:r>
              <a:rPr lang="en-US" sz="1000" i="1" dirty="0">
                <a:solidFill>
                  <a:srgbClr val="6B7B8D"/>
                </a:solidFill>
                <a:latin typeface="Cambria Math"/>
              </a:rPr>
              <a:t>K</a:t>
            </a:r>
            <a:r>
              <a:rPr lang="en-US" sz="1000" dirty="0">
                <a:solidFill>
                  <a:srgbClr val="6B7B8D"/>
                </a:solidFill>
                <a:latin typeface="Calibri"/>
              </a:rPr>
              <a:t> = 50</a:t>
            </a:r>
          </a:p>
        </p:txBody>
      </p:sp>
      <p:sp>
        <p:nvSpPr>
          <p:cNvPr id="164" name="T164"/>
          <p:cNvSpPr txBox="1"/>
          <p:nvPr/>
        </p:nvSpPr>
        <p:spPr>
          <a:xfrm>
            <a:off x="508000" y="4889500"/>
            <a:ext cx="5080000" cy="203200"/>
          </a:xfrm>
          <a:prstGeom prst="rect">
            <a:avLst/>
          </a:prstGeom>
          <a:noFill/>
          <a:ln w="0">
            <a:noFill/>
          </a:ln>
        </p:spPr>
        <p:txBody>
          <a:bodyPr lIns="36000" tIns="18000" rIns="36000" bIns="18000" anchor="ctr"/>
          <a:lstStyle/>
          <a:p>
            <a:pPr algn="l"/>
            <a:r>
              <a:rPr lang="en-US" sz="1100" dirty="0">
                <a:solidFill>
                  <a:srgbClr val="9BA7B4"/>
                </a:solidFill>
                <a:latin typeface="Calibri"/>
              </a:rPr>
              <a:t>ProbTSLANet — Architecture Overview</a:t>
            </a:r>
          </a:p>
        </p:txBody>
      </p:sp>
    </p:spTree>
    <p:extLst>
      <p:ext uri="{BB962C8B-B14F-4D97-AF65-F5344CB8AC3E}">
        <p14:creationId xmlns:p14="http://schemas.microsoft.com/office/powerpoint/2010/main" val="2114902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T200"/>
          <p:cNvSpPr txBox="1"/>
          <p:nvPr/>
        </p:nvSpPr>
        <p:spPr>
          <a:xfrm>
            <a:off x="508000" y="101600"/>
            <a:ext cx="8128000" cy="4445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l"/>
            <a:r>
              <a:rPr lang="en-US" sz="2000" b="1" dirty="0">
                <a:solidFill>
                  <a:srgbClr val="1B2A4A"/>
                </a:solidFill>
                <a:latin typeface="Georgia"/>
              </a:rPr>
              <a:t>Core Module Internals</a:t>
            </a:r>
          </a:p>
        </p:txBody>
      </p:sp>
      <p:sp>
        <p:nvSpPr>
          <p:cNvPr id="201" name="S201"/>
          <p:cNvSpPr/>
          <p:nvPr/>
        </p:nvSpPr>
        <p:spPr>
          <a:xfrm>
            <a:off x="508000" y="546100"/>
            <a:ext cx="1016000" cy="31750"/>
          </a:xfrm>
          <a:prstGeom prst="rect">
            <a:avLst/>
          </a:prstGeom>
          <a:solidFill>
            <a:srgbClr val="2B5797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02" name="T202"/>
          <p:cNvSpPr txBox="1"/>
          <p:nvPr/>
        </p:nvSpPr>
        <p:spPr>
          <a:xfrm>
            <a:off x="508000" y="609600"/>
            <a:ext cx="8128000" cy="2032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l"/>
            <a:r>
              <a:rPr lang="en-US" sz="1100" dirty="0">
                <a:solidFill>
                  <a:srgbClr val="6B7B8D"/>
                </a:solidFill>
                <a:latin typeface="Calibri"/>
              </a:rPr>
              <a:t>Detailed internals of each processing module from the architecture</a:t>
            </a:r>
          </a:p>
        </p:txBody>
      </p:sp>
      <p:sp>
        <p:nvSpPr>
          <p:cNvPr id="203" name="S203"/>
          <p:cNvSpPr/>
          <p:nvPr/>
        </p:nvSpPr>
        <p:spPr>
          <a:xfrm>
            <a:off x="508000" y="914400"/>
            <a:ext cx="4064000" cy="2032000"/>
          </a:xfrm>
          <a:prstGeom prst="roundRect">
            <a:avLst/>
          </a:prstGeom>
          <a:solidFill>
            <a:srgbClr val="F2F4F8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04" name="S204"/>
          <p:cNvSpPr/>
          <p:nvPr/>
        </p:nvSpPr>
        <p:spPr>
          <a:xfrm>
            <a:off x="508000" y="914400"/>
            <a:ext cx="50800" cy="2032000"/>
          </a:xfrm>
          <a:prstGeom prst="rect">
            <a:avLst/>
          </a:prstGeom>
          <a:solidFill>
            <a:srgbClr val="2B5797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05" name="T205"/>
          <p:cNvSpPr txBox="1"/>
          <p:nvPr/>
        </p:nvSpPr>
        <p:spPr>
          <a:xfrm>
            <a:off x="660400" y="965200"/>
            <a:ext cx="3810000" cy="2540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l"/>
            <a:r>
              <a:rPr lang="en-US" sz="1300" b="1" dirty="0">
                <a:solidFill>
                  <a:srgbClr val="2B5797"/>
                </a:solidFill>
                <a:latin typeface="Georgia"/>
              </a:rPr>
              <a:t>Adaptive Spectral Block (ASB)</a:t>
            </a:r>
          </a:p>
        </p:txBody>
      </p:sp>
      <p:sp>
        <p:nvSpPr>
          <p:cNvPr id="206" name="S206"/>
          <p:cNvSpPr/>
          <p:nvPr/>
        </p:nvSpPr>
        <p:spPr>
          <a:xfrm>
            <a:off x="685800" y="1270000"/>
            <a:ext cx="533400" cy="355600"/>
          </a:xfrm>
          <a:prstGeom prst="roundRect">
            <a:avLst/>
          </a:prstGeom>
          <a:solidFill>
            <a:srgbClr val="2B5797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07" name="T207"/>
          <p:cNvSpPr txBox="1"/>
          <p:nvPr/>
        </p:nvSpPr>
        <p:spPr>
          <a:xfrm>
            <a:off x="685800" y="1270000"/>
            <a:ext cx="533400" cy="3556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FFT</a:t>
            </a:r>
          </a:p>
        </p:txBody>
      </p:sp>
      <p:sp>
        <p:nvSpPr>
          <p:cNvPr id="208" name="S208"/>
          <p:cNvSpPr/>
          <p:nvPr/>
        </p:nvSpPr>
        <p:spPr>
          <a:xfrm>
            <a:off x="1257300" y="1397000"/>
            <a:ext cx="152400" cy="101600"/>
          </a:xfrm>
          <a:prstGeom prst="rightArrow">
            <a:avLst/>
          </a:prstGeom>
          <a:solidFill>
            <a:srgbClr val="2B5797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09" name="S209"/>
          <p:cNvSpPr/>
          <p:nvPr/>
        </p:nvSpPr>
        <p:spPr>
          <a:xfrm>
            <a:off x="1447800" y="1270000"/>
            <a:ext cx="838200" cy="355600"/>
          </a:xfrm>
          <a:prstGeom prst="roundRect">
            <a:avLst/>
          </a:prstGeom>
          <a:solidFill>
            <a:srgbClr val="2B5797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10" name="T210"/>
          <p:cNvSpPr txBox="1"/>
          <p:nvPr/>
        </p:nvSpPr>
        <p:spPr>
          <a:xfrm>
            <a:off x="1447800" y="1270000"/>
            <a:ext cx="838200" cy="3556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ctr"/>
            <a:r>
              <a:rPr lang="en-US" sz="1000" b="1" i="1" dirty="0">
                <a:solidFill>
                  <a:srgbClr val="FFFFFF"/>
                </a:solidFill>
                <a:latin typeface="Cambria Math"/>
              </a:rPr>
              <a:t>W</a:t>
            </a:r>
            <a:r>
              <a:rPr lang="en-US" sz="1000" dirty="0">
                <a:solidFill>
                  <a:srgbClr val="FFFFFF"/>
                </a:solidFill>
                <a:latin typeface="Cambria Math"/>
              </a:rPr>
              <a:t> · </a:t>
            </a:r>
            <a:r>
              <a:rPr lang="en-US" sz="1000" i="1" dirty="0">
                <a:solidFill>
                  <a:srgbClr val="FFFFFF"/>
                </a:solidFill>
                <a:latin typeface="Cambria Math"/>
              </a:rPr>
              <a:t>X̂</a:t>
            </a:r>
          </a:p>
        </p:txBody>
      </p:sp>
      <p:sp>
        <p:nvSpPr>
          <p:cNvPr id="211" name="S211"/>
          <p:cNvSpPr/>
          <p:nvPr/>
        </p:nvSpPr>
        <p:spPr>
          <a:xfrm>
            <a:off x="2324100" y="1397000"/>
            <a:ext cx="152400" cy="101600"/>
          </a:xfrm>
          <a:prstGeom prst="rightArrow">
            <a:avLst/>
          </a:prstGeom>
          <a:solidFill>
            <a:srgbClr val="2B5797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12" name="S212"/>
          <p:cNvSpPr/>
          <p:nvPr/>
        </p:nvSpPr>
        <p:spPr>
          <a:xfrm>
            <a:off x="2514600" y="1270000"/>
            <a:ext cx="914400" cy="355600"/>
          </a:xfrm>
          <a:prstGeom prst="roundRect">
            <a:avLst/>
          </a:prstGeom>
          <a:solidFill>
            <a:srgbClr val="34495E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13" name="T213"/>
          <p:cNvSpPr txBox="1"/>
          <p:nvPr/>
        </p:nvSpPr>
        <p:spPr>
          <a:xfrm>
            <a:off x="2514600" y="1270000"/>
            <a:ext cx="914400" cy="3556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ctr"/>
            <a:r>
              <a:rPr lang="en-US" sz="900" b="1" dirty="0">
                <a:solidFill>
                  <a:srgbClr val="FFFFFF"/>
                </a:solidFill>
                <a:latin typeface="Calibri"/>
              </a:rPr>
              <a:t>Adapt. Mask</a:t>
            </a:r>
          </a:p>
        </p:txBody>
      </p:sp>
      <p:sp>
        <p:nvSpPr>
          <p:cNvPr id="214" name="S214"/>
          <p:cNvSpPr/>
          <p:nvPr/>
        </p:nvSpPr>
        <p:spPr>
          <a:xfrm>
            <a:off x="3467100" y="1397000"/>
            <a:ext cx="152400" cy="101600"/>
          </a:xfrm>
          <a:prstGeom prst="rightArrow">
            <a:avLst/>
          </a:prstGeom>
          <a:solidFill>
            <a:srgbClr val="2B5797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15" name="S215"/>
          <p:cNvSpPr/>
          <p:nvPr/>
        </p:nvSpPr>
        <p:spPr>
          <a:xfrm>
            <a:off x="3657600" y="1270000"/>
            <a:ext cx="533400" cy="355600"/>
          </a:xfrm>
          <a:prstGeom prst="roundRect">
            <a:avLst/>
          </a:prstGeom>
          <a:solidFill>
            <a:srgbClr val="2B5797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16" name="T216"/>
          <p:cNvSpPr txBox="1"/>
          <p:nvPr/>
        </p:nvSpPr>
        <p:spPr>
          <a:xfrm>
            <a:off x="3657600" y="1270000"/>
            <a:ext cx="533400" cy="3556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IFFT</a:t>
            </a:r>
          </a:p>
        </p:txBody>
      </p:sp>
      <p:sp>
        <p:nvSpPr>
          <p:cNvPr id="217" name="T217"/>
          <p:cNvSpPr txBox="1"/>
          <p:nvPr/>
        </p:nvSpPr>
        <p:spPr>
          <a:xfrm>
            <a:off x="660400" y="1727200"/>
            <a:ext cx="3810000" cy="11938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l">
              <a:spcAft>
                <a:spcPts val="300"/>
              </a:spcAft>
            </a:pPr>
            <a:r>
              <a:rPr lang="en-US" sz="1000" dirty="0">
                <a:solidFill>
                  <a:srgbClr val="3D4F6F"/>
                </a:solidFill>
                <a:latin typeface="Calibri"/>
              </a:rPr>
              <a:t>Frequency weights: </a:t>
            </a:r>
            <a:r>
              <a:rPr lang="en-US" sz="1100" b="1" i="1" dirty="0">
                <a:solidFill>
                  <a:srgbClr val="2B5797"/>
                </a:solidFill>
                <a:latin typeface="Cambria Math"/>
              </a:rPr>
              <a:t>W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 ∈ ℂ</a:t>
            </a:r>
            <a:r>
              <a:rPr lang="en-US" sz="900" i="1" baseline="30000" dirty="0">
                <a:solidFill>
                  <a:srgbClr val="2B5797"/>
                </a:solidFill>
                <a:latin typeface="Cambria Math"/>
              </a:rPr>
              <a:t>d</a:t>
            </a:r>
          </a:p>
          <a:p>
            <a:pPr algn="l">
              <a:spcAft>
                <a:spcPts val="300"/>
              </a:spcAft>
            </a:pPr>
            <a:r>
              <a:rPr lang="en-US" sz="1000" dirty="0">
                <a:solidFill>
                  <a:srgbClr val="3D4F6F"/>
                </a:solidFill>
                <a:latin typeface="Calibri"/>
              </a:rPr>
              <a:t>Energy masking: 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E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(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k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) = |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X̂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(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k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)|</a:t>
            </a:r>
            <a:r>
              <a:rPr lang="en-US" sz="900" baseline="30000" dirty="0">
                <a:solidFill>
                  <a:srgbClr val="2B5797"/>
                </a:solidFill>
                <a:latin typeface="Cambria Math"/>
              </a:rPr>
              <a:t>2</a:t>
            </a:r>
          </a:p>
          <a:p>
            <a:pPr algn="l">
              <a:spcAft>
                <a:spcPts val="300"/>
              </a:spcAft>
            </a:pPr>
            <a:r>
              <a:rPr lang="en-US" sz="1000" dirty="0">
                <a:solidFill>
                  <a:srgbClr val="3D4F6F"/>
                </a:solidFill>
                <a:latin typeface="Calibri"/>
              </a:rPr>
              <a:t>Adaptive threshold: 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mask = ᵽ9[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E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 &gt; 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τ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 · median]</a:t>
            </a:r>
          </a:p>
          <a:p>
            <a:pPr algn="l"/>
            <a:r>
              <a:rPr lang="en-US" sz="1000" i="1" dirty="0">
                <a:solidFill>
                  <a:srgbClr val="6B7B8D"/>
                </a:solidFill>
                <a:latin typeface="Calibri"/>
              </a:rPr>
              <a:t>Separate: low-freq trend + high-freq detail paths</a:t>
            </a:r>
          </a:p>
        </p:txBody>
      </p:sp>
      <p:sp>
        <p:nvSpPr>
          <p:cNvPr id="218" name="S218"/>
          <p:cNvSpPr/>
          <p:nvPr/>
        </p:nvSpPr>
        <p:spPr>
          <a:xfrm>
            <a:off x="4826000" y="914400"/>
            <a:ext cx="3810000" cy="2032000"/>
          </a:xfrm>
          <a:prstGeom prst="roundRect">
            <a:avLst/>
          </a:prstGeom>
          <a:solidFill>
            <a:srgbClr val="F2F4F8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19" name="S219"/>
          <p:cNvSpPr/>
          <p:nvPr/>
        </p:nvSpPr>
        <p:spPr>
          <a:xfrm>
            <a:off x="4826000" y="914400"/>
            <a:ext cx="50800" cy="2032000"/>
          </a:xfrm>
          <a:prstGeom prst="rect">
            <a:avLst/>
          </a:prstGeom>
          <a:solidFill>
            <a:srgbClr val="1A7A5C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20" name="T220"/>
          <p:cNvSpPr txBox="1"/>
          <p:nvPr/>
        </p:nvSpPr>
        <p:spPr>
          <a:xfrm>
            <a:off x="4978400" y="965200"/>
            <a:ext cx="3556000" cy="2540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l"/>
            <a:r>
              <a:rPr lang="en-US" sz="1300" b="1" dirty="0">
                <a:solidFill>
                  <a:srgbClr val="1A7A5C"/>
                </a:solidFill>
                <a:latin typeface="Georgia"/>
              </a:rPr>
              <a:t>Interacting Conv Block (ICB)</a:t>
            </a:r>
          </a:p>
        </p:txBody>
      </p:sp>
      <p:sp>
        <p:nvSpPr>
          <p:cNvPr id="221" name="S221"/>
          <p:cNvSpPr/>
          <p:nvPr/>
        </p:nvSpPr>
        <p:spPr>
          <a:xfrm>
            <a:off x="5003800" y="1270000"/>
            <a:ext cx="1524000" cy="330200"/>
          </a:xfrm>
          <a:prstGeom prst="roundRect">
            <a:avLst/>
          </a:prstGeom>
          <a:solidFill>
            <a:srgbClr val="1A7A5C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22" name="T222"/>
          <p:cNvSpPr txBox="1"/>
          <p:nvPr/>
        </p:nvSpPr>
        <p:spPr>
          <a:xfrm>
            <a:off x="5003800" y="1270000"/>
            <a:ext cx="1524000" cy="3302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ctr"/>
            <a:r>
              <a:rPr lang="en-US" sz="1000" i="1" dirty="0">
                <a:solidFill>
                  <a:srgbClr val="FFFFFF"/>
                </a:solidFill>
                <a:latin typeface="Cambria Math"/>
              </a:rPr>
              <a:t>x</a:t>
            </a:r>
            <a:r>
              <a:rPr lang="en-US" sz="800" baseline="-25000" dirty="0">
                <a:solidFill>
                  <a:srgbClr val="FFFFFF"/>
                </a:solidFill>
                <a:latin typeface="Cambria Math"/>
              </a:rPr>
              <a:t>1</a:t>
            </a:r>
            <a:r>
              <a:rPr lang="en-US" sz="1000" dirty="0">
                <a:solidFill>
                  <a:srgbClr val="FFFFFF"/>
                </a:solidFill>
                <a:latin typeface="Calibri"/>
              </a:rPr>
              <a:t> = Conv1D(k=1)</a:t>
            </a:r>
          </a:p>
        </p:txBody>
      </p:sp>
      <p:sp>
        <p:nvSpPr>
          <p:cNvPr id="223" name="S223"/>
          <p:cNvSpPr/>
          <p:nvPr/>
        </p:nvSpPr>
        <p:spPr>
          <a:xfrm>
            <a:off x="5003800" y="1676400"/>
            <a:ext cx="1524000" cy="330200"/>
          </a:xfrm>
          <a:prstGeom prst="roundRect">
            <a:avLst/>
          </a:prstGeom>
          <a:solidFill>
            <a:srgbClr val="1A7A5C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24" name="T224"/>
          <p:cNvSpPr txBox="1"/>
          <p:nvPr/>
        </p:nvSpPr>
        <p:spPr>
          <a:xfrm>
            <a:off x="5003800" y="1676400"/>
            <a:ext cx="1524000" cy="3302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ctr"/>
            <a:r>
              <a:rPr lang="en-US" sz="1000" i="1" dirty="0">
                <a:solidFill>
                  <a:srgbClr val="FFFFFF"/>
                </a:solidFill>
                <a:latin typeface="Cambria Math"/>
              </a:rPr>
              <a:t>x</a:t>
            </a:r>
            <a:r>
              <a:rPr lang="en-US" sz="800" baseline="-25000" dirty="0">
                <a:solidFill>
                  <a:srgbClr val="FFFFFF"/>
                </a:solidFill>
                <a:latin typeface="Cambria Math"/>
              </a:rPr>
              <a:t>2</a:t>
            </a:r>
            <a:r>
              <a:rPr lang="en-US" sz="1000" dirty="0">
                <a:solidFill>
                  <a:srgbClr val="FFFFFF"/>
                </a:solidFill>
                <a:latin typeface="Calibri"/>
              </a:rPr>
              <a:t> = Conv1D(k=3)</a:t>
            </a:r>
          </a:p>
        </p:txBody>
      </p:sp>
      <p:sp>
        <p:nvSpPr>
          <p:cNvPr id="225" name="S225"/>
          <p:cNvSpPr/>
          <p:nvPr/>
        </p:nvSpPr>
        <p:spPr>
          <a:xfrm>
            <a:off x="6553200" y="1384300"/>
            <a:ext cx="127000" cy="101600"/>
          </a:xfrm>
          <a:prstGeom prst="rightArrow">
            <a:avLst/>
          </a:prstGeom>
          <a:solidFill>
            <a:srgbClr val="1A7A5C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26" name="S226"/>
          <p:cNvSpPr/>
          <p:nvPr/>
        </p:nvSpPr>
        <p:spPr>
          <a:xfrm>
            <a:off x="6553200" y="1790700"/>
            <a:ext cx="127000" cy="101600"/>
          </a:xfrm>
          <a:prstGeom prst="rightArrow">
            <a:avLst/>
          </a:prstGeom>
          <a:solidFill>
            <a:srgbClr val="1A7A5C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27" name="S227"/>
          <p:cNvSpPr/>
          <p:nvPr/>
        </p:nvSpPr>
        <p:spPr>
          <a:xfrm>
            <a:off x="6756400" y="1270000"/>
            <a:ext cx="1651000" cy="736600"/>
          </a:xfrm>
          <a:prstGeom prst="roundRect">
            <a:avLst/>
          </a:prstGeom>
          <a:solidFill>
            <a:srgbClr val="145C45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28" name="T228"/>
          <p:cNvSpPr txBox="1"/>
          <p:nvPr/>
        </p:nvSpPr>
        <p:spPr>
          <a:xfrm>
            <a:off x="6756400" y="1295400"/>
            <a:ext cx="1651000" cy="2794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ctr"/>
            <a:r>
              <a:rPr lang="en-US" sz="950" b="1" dirty="0">
                <a:solidFill>
                  <a:srgbClr val="FFFFFF"/>
                </a:solidFill>
                <a:latin typeface="Calibri"/>
              </a:rPr>
              <a:t>Multiplicative Gating</a:t>
            </a:r>
          </a:p>
        </p:txBody>
      </p:sp>
      <p:sp>
        <p:nvSpPr>
          <p:cNvPr id="229" name="T229"/>
          <p:cNvSpPr txBox="1"/>
          <p:nvPr/>
        </p:nvSpPr>
        <p:spPr>
          <a:xfrm>
            <a:off x="6756400" y="1549400"/>
            <a:ext cx="1651000" cy="2794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ctr"/>
            <a:r>
              <a:rPr lang="en-US" sz="1000" i="1" dirty="0">
                <a:solidFill>
                  <a:srgbClr val="C5F0E0"/>
                </a:solidFill>
                <a:latin typeface="Cambria Math"/>
              </a:rPr>
              <a:t>x</a:t>
            </a:r>
            <a:r>
              <a:rPr lang="en-US" sz="800" baseline="-25000" dirty="0">
                <a:solidFill>
                  <a:srgbClr val="C5F0E0"/>
                </a:solidFill>
                <a:latin typeface="Cambria Math"/>
              </a:rPr>
              <a:t>1</a:t>
            </a:r>
            <a:r>
              <a:rPr lang="en-US" sz="1000" dirty="0">
                <a:solidFill>
                  <a:srgbClr val="C5F0E0"/>
                </a:solidFill>
                <a:latin typeface="Cambria Math"/>
              </a:rPr>
              <a:t>⊙GELU(</a:t>
            </a:r>
            <a:r>
              <a:rPr lang="en-US" sz="1000" i="1" dirty="0">
                <a:solidFill>
                  <a:srgbClr val="C5F0E0"/>
                </a:solidFill>
                <a:latin typeface="Cambria Math"/>
              </a:rPr>
              <a:t>x</a:t>
            </a:r>
            <a:r>
              <a:rPr lang="en-US" sz="800" baseline="-25000" dirty="0">
                <a:solidFill>
                  <a:srgbClr val="C5F0E0"/>
                </a:solidFill>
                <a:latin typeface="Cambria Math"/>
              </a:rPr>
              <a:t>2</a:t>
            </a:r>
            <a:r>
              <a:rPr lang="en-US" sz="1000" dirty="0">
                <a:solidFill>
                  <a:srgbClr val="C5F0E0"/>
                </a:solidFill>
                <a:latin typeface="Cambria Math"/>
              </a:rPr>
              <a:t>)</a:t>
            </a:r>
          </a:p>
        </p:txBody>
      </p:sp>
      <p:sp>
        <p:nvSpPr>
          <p:cNvPr id="230" name="T230"/>
          <p:cNvSpPr txBox="1"/>
          <p:nvPr/>
        </p:nvSpPr>
        <p:spPr>
          <a:xfrm>
            <a:off x="6756400" y="1778000"/>
            <a:ext cx="1651000" cy="2286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ctr"/>
            <a:r>
              <a:rPr lang="en-US" sz="1000" dirty="0">
                <a:solidFill>
                  <a:srgbClr val="C5F0E0"/>
                </a:solidFill>
                <a:latin typeface="Cambria Math"/>
              </a:rPr>
              <a:t>+ </a:t>
            </a:r>
            <a:r>
              <a:rPr lang="en-US" sz="1000" i="1" dirty="0">
                <a:solidFill>
                  <a:srgbClr val="C5F0E0"/>
                </a:solidFill>
                <a:latin typeface="Cambria Math"/>
              </a:rPr>
              <a:t>x</a:t>
            </a:r>
            <a:r>
              <a:rPr lang="en-US" sz="800" baseline="-25000" dirty="0">
                <a:solidFill>
                  <a:srgbClr val="C5F0E0"/>
                </a:solidFill>
                <a:latin typeface="Cambria Math"/>
              </a:rPr>
              <a:t>2</a:t>
            </a:r>
            <a:r>
              <a:rPr lang="en-US" sz="1000" dirty="0">
                <a:solidFill>
                  <a:srgbClr val="C5F0E0"/>
                </a:solidFill>
                <a:latin typeface="Cambria Math"/>
              </a:rPr>
              <a:t>⊙GELU(</a:t>
            </a:r>
            <a:r>
              <a:rPr lang="en-US" sz="1000" i="1" dirty="0">
                <a:solidFill>
                  <a:srgbClr val="C5F0E0"/>
                </a:solidFill>
                <a:latin typeface="Cambria Math"/>
              </a:rPr>
              <a:t>x</a:t>
            </a:r>
            <a:r>
              <a:rPr lang="en-US" sz="800" baseline="-25000" dirty="0">
                <a:solidFill>
                  <a:srgbClr val="C5F0E0"/>
                </a:solidFill>
                <a:latin typeface="Cambria Math"/>
              </a:rPr>
              <a:t>1</a:t>
            </a:r>
            <a:r>
              <a:rPr lang="en-US" sz="1000" dirty="0">
                <a:solidFill>
                  <a:srgbClr val="C5F0E0"/>
                </a:solidFill>
                <a:latin typeface="Cambria Math"/>
              </a:rPr>
              <a:t>)</a:t>
            </a:r>
          </a:p>
        </p:txBody>
      </p:sp>
      <p:sp>
        <p:nvSpPr>
          <p:cNvPr id="231" name="T231"/>
          <p:cNvSpPr txBox="1"/>
          <p:nvPr/>
        </p:nvSpPr>
        <p:spPr>
          <a:xfrm>
            <a:off x="4978400" y="2133600"/>
            <a:ext cx="3556000" cy="7112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l">
              <a:spcAft>
                <a:spcPts val="200"/>
              </a:spcAft>
            </a:pPr>
            <a:r>
              <a:rPr lang="en-US" sz="1000" dirty="0">
                <a:solidFill>
                  <a:srgbClr val="3D4F6F"/>
                </a:solidFill>
                <a:latin typeface="Calibri"/>
              </a:rPr>
              <a:t>Two parallel convolution paths with</a:t>
            </a:r>
          </a:p>
          <a:p>
            <a:pPr algn="l">
              <a:spcAft>
                <a:spcPts val="200"/>
              </a:spcAft>
            </a:pPr>
            <a:r>
              <a:rPr lang="en-US" sz="1000" dirty="0">
                <a:solidFill>
                  <a:srgbClr val="3D4F6F"/>
                </a:solidFill>
                <a:latin typeface="Calibri"/>
              </a:rPr>
              <a:t>different kernels (1×1 pointwise + 3×1 local)</a:t>
            </a:r>
          </a:p>
          <a:p>
            <a:pPr algn="l"/>
            <a:r>
              <a:rPr lang="en-US" sz="1000" dirty="0">
                <a:solidFill>
                  <a:srgbClr val="3D4F6F"/>
                </a:solidFill>
                <a:latin typeface="Calibri"/>
              </a:rPr>
              <a:t>Merged via </a:t>
            </a:r>
            <a:r>
              <a:rPr lang="en-US" sz="1000" b="1" dirty="0">
                <a:solidFill>
                  <a:srgbClr val="1A7A5C"/>
                </a:solidFill>
                <a:latin typeface="Calibri"/>
              </a:rPr>
              <a:t>element-wise ⊙ + GELU gating</a:t>
            </a:r>
          </a:p>
        </p:txBody>
      </p:sp>
      <p:sp>
        <p:nvSpPr>
          <p:cNvPr id="232" name="S232"/>
          <p:cNvSpPr/>
          <p:nvPr/>
        </p:nvSpPr>
        <p:spPr>
          <a:xfrm>
            <a:off x="508000" y="3048000"/>
            <a:ext cx="8128000" cy="1816100"/>
          </a:xfrm>
          <a:prstGeom prst="roundRect">
            <a:avLst/>
          </a:prstGeom>
          <a:solidFill>
            <a:srgbClr val="F2F4F8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33" name="S233"/>
          <p:cNvSpPr/>
          <p:nvPr/>
        </p:nvSpPr>
        <p:spPr>
          <a:xfrm>
            <a:off x="508000" y="3048000"/>
            <a:ext cx="50800" cy="1879600"/>
          </a:xfrm>
          <a:prstGeom prst="rect">
            <a:avLst/>
          </a:prstGeom>
          <a:solidFill>
            <a:srgbClr val="C0392B"/>
          </a:solidFill>
          <a:ln w="0">
            <a:noFill/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34" name="T234"/>
          <p:cNvSpPr txBox="1"/>
          <p:nvPr/>
        </p:nvSpPr>
        <p:spPr>
          <a:xfrm>
            <a:off x="660400" y="3098800"/>
            <a:ext cx="7874000" cy="2540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l"/>
            <a:r>
              <a:rPr lang="en-US" sz="1300" b="1" dirty="0">
                <a:solidFill>
                  <a:srgbClr val="C0392B"/>
                </a:solidFill>
                <a:latin typeface="Georgia"/>
              </a:rPr>
              <a:t>Probabilistic Output Head &amp; RevIN Denormalization</a:t>
            </a:r>
          </a:p>
        </p:txBody>
      </p:sp>
      <p:sp>
        <p:nvSpPr>
          <p:cNvPr id="235" name="S235"/>
          <p:cNvSpPr/>
          <p:nvPr/>
        </p:nvSpPr>
        <p:spPr>
          <a:xfrm>
            <a:off x="685800" y="3429000"/>
            <a:ext cx="2413000" cy="1397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2B5797"/>
            </a:solidFill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36" name="T236"/>
          <p:cNvSpPr txBox="1"/>
          <p:nvPr/>
        </p:nvSpPr>
        <p:spPr>
          <a:xfrm>
            <a:off x="685800" y="3479800"/>
            <a:ext cx="2413000" cy="2286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l"/>
            <a:r>
              <a:rPr lang="en-US" sz="1300" i="1" dirty="0">
                <a:solidFill>
                  <a:srgbClr val="2B5797"/>
                </a:solidFill>
                <a:latin typeface="Cambria Math"/>
              </a:rPr>
              <a:t>μ</a:t>
            </a:r>
            <a:r>
              <a:rPr lang="en-US" sz="1100" b="1" dirty="0">
                <a:solidFill>
                  <a:srgbClr val="2B5797"/>
                </a:solidFill>
                <a:latin typeface="Calibri"/>
              </a:rPr>
              <a:t> Head (Mean)</a:t>
            </a:r>
          </a:p>
        </p:txBody>
      </p:sp>
      <p:sp>
        <p:nvSpPr>
          <p:cNvPr id="237" name="T237"/>
          <p:cNvSpPr txBox="1"/>
          <p:nvPr/>
        </p:nvSpPr>
        <p:spPr>
          <a:xfrm>
            <a:off x="685800" y="3733800"/>
            <a:ext cx="2413000" cy="10160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l">
              <a:spcAft>
                <a:spcPts val="200"/>
              </a:spcAft>
            </a:pPr>
            <a:r>
              <a:rPr lang="en-US" sz="1000" dirty="0">
                <a:solidFill>
                  <a:srgbClr val="3D4F6F"/>
                </a:solidFill>
                <a:latin typeface="Calibri"/>
              </a:rPr>
              <a:t>Linear(352 → </a:t>
            </a:r>
            <a:r>
              <a:rPr lang="en-US" sz="1000" i="1" dirty="0">
                <a:solidFill>
                  <a:srgbClr val="2B5797"/>
                </a:solidFill>
                <a:latin typeface="Cambria Math"/>
              </a:rPr>
              <a:t>T</a:t>
            </a:r>
            <a:r>
              <a:rPr lang="en-US" sz="1000" dirty="0">
                <a:solidFill>
                  <a:srgbClr val="3D4F6F"/>
                </a:solidFill>
                <a:latin typeface="Calibri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lang="en-US" sz="1000" dirty="0">
                <a:solidFill>
                  <a:srgbClr val="3D4F6F"/>
                </a:solidFill>
                <a:latin typeface="Calibri"/>
              </a:rPr>
              <a:t>Denorm: 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ŷ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 = 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μ̃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 · 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800" baseline="-25000" dirty="0">
                <a:solidFill>
                  <a:srgbClr val="2B5797"/>
                </a:solidFill>
                <a:latin typeface="Cambria Math"/>
              </a:rPr>
              <a:t>x</a:t>
            </a:r>
            <a:r>
              <a:rPr lang="en-US" sz="1100" dirty="0">
                <a:solidFill>
                  <a:srgbClr val="2B5797"/>
                </a:solidFill>
                <a:latin typeface="Cambria Math"/>
              </a:rPr>
              <a:t> + </a:t>
            </a:r>
            <a:r>
              <a:rPr lang="en-US" sz="1100" i="1" dirty="0">
                <a:solidFill>
                  <a:srgbClr val="2B5797"/>
                </a:solidFill>
                <a:latin typeface="Cambria Math"/>
              </a:rPr>
              <a:t>μ</a:t>
            </a:r>
            <a:r>
              <a:rPr lang="en-US" sz="800" baseline="-25000" dirty="0">
                <a:solidFill>
                  <a:srgbClr val="2B5797"/>
                </a:solidFill>
                <a:latin typeface="Cambria Math"/>
              </a:rPr>
              <a:t>x</a:t>
            </a:r>
          </a:p>
          <a:p>
            <a:pPr algn="l"/>
            <a:r>
              <a:rPr lang="en-US" sz="1000" i="1" dirty="0">
                <a:solidFill>
                  <a:srgbClr val="6B7B8D"/>
                </a:solidFill>
                <a:latin typeface="Calibri"/>
              </a:rPr>
              <a:t>Standard initialization</a:t>
            </a:r>
          </a:p>
        </p:txBody>
      </p:sp>
      <p:sp>
        <p:nvSpPr>
          <p:cNvPr id="238" name="S238"/>
          <p:cNvSpPr/>
          <p:nvPr/>
        </p:nvSpPr>
        <p:spPr>
          <a:xfrm>
            <a:off x="3225800" y="3429000"/>
            <a:ext cx="2413000" cy="1397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0392B"/>
            </a:solidFill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39" name="T239"/>
          <p:cNvSpPr txBox="1"/>
          <p:nvPr/>
        </p:nvSpPr>
        <p:spPr>
          <a:xfrm>
            <a:off x="3225800" y="3479800"/>
            <a:ext cx="2413000" cy="2286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l"/>
            <a:r>
              <a:rPr lang="en-US" sz="1100" dirty="0">
                <a:solidFill>
                  <a:srgbClr val="C0392B"/>
                </a:solidFill>
                <a:latin typeface="Cambria Math"/>
              </a:rPr>
              <a:t>log </a:t>
            </a:r>
            <a:r>
              <a:rPr lang="en-US" sz="1300" i="1" dirty="0">
                <a:solidFill>
                  <a:srgbClr val="C0392B"/>
                </a:solidFill>
                <a:latin typeface="Cambria Math"/>
              </a:rPr>
              <a:t>σ</a:t>
            </a:r>
            <a:r>
              <a:rPr lang="en-US" sz="1000" baseline="30000" dirty="0">
                <a:solidFill>
                  <a:srgbClr val="C0392B"/>
                </a:solidFill>
                <a:latin typeface="Cambria Math"/>
              </a:rPr>
              <a:t>2</a:t>
            </a:r>
            <a:r>
              <a:rPr lang="en-US" sz="1100" b="1" dirty="0">
                <a:solidFill>
                  <a:srgbClr val="C0392B"/>
                </a:solidFill>
                <a:latin typeface="Calibri"/>
              </a:rPr>
              <a:t> Head (Variance)</a:t>
            </a:r>
          </a:p>
        </p:txBody>
      </p:sp>
      <p:sp>
        <p:nvSpPr>
          <p:cNvPr id="240" name="T240"/>
          <p:cNvSpPr txBox="1"/>
          <p:nvPr/>
        </p:nvSpPr>
        <p:spPr>
          <a:xfrm>
            <a:off x="3225800" y="3733800"/>
            <a:ext cx="2413000" cy="10160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l">
              <a:spcAft>
                <a:spcPts val="200"/>
              </a:spcAft>
            </a:pPr>
            <a:r>
              <a:rPr lang="en-US" sz="1000" dirty="0">
                <a:solidFill>
                  <a:srgbClr val="3D4F6F"/>
                </a:solidFill>
                <a:latin typeface="Calibri"/>
              </a:rPr>
              <a:t>Linear(352 → </a:t>
            </a:r>
            <a:r>
              <a:rPr lang="en-US" sz="1000" i="1" dirty="0">
                <a:solidFill>
                  <a:srgbClr val="C0392B"/>
                </a:solidFill>
                <a:latin typeface="Cambria Math"/>
              </a:rPr>
              <a:t>T</a:t>
            </a:r>
            <a:r>
              <a:rPr lang="en-US" sz="1000" dirty="0">
                <a:solidFill>
                  <a:srgbClr val="3D4F6F"/>
                </a:solidFill>
                <a:latin typeface="Calibri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lang="en-US" sz="1000" dirty="0">
                <a:solidFill>
                  <a:srgbClr val="3D4F6F"/>
                </a:solidFill>
                <a:latin typeface="Calibri"/>
              </a:rPr>
              <a:t>Denorm: + 2 log </a:t>
            </a:r>
            <a:r>
              <a:rPr lang="en-US" sz="1100" i="1" dirty="0">
                <a:solidFill>
                  <a:srgbClr val="C0392B"/>
                </a:solidFill>
                <a:latin typeface="Cambria Math"/>
              </a:rPr>
              <a:t>σ</a:t>
            </a:r>
            <a:r>
              <a:rPr lang="en-US" sz="800" baseline="-25000" dirty="0">
                <a:solidFill>
                  <a:srgbClr val="C0392B"/>
                </a:solidFill>
                <a:latin typeface="Cambria Math"/>
              </a:rPr>
              <a:t>x</a:t>
            </a:r>
          </a:p>
          <a:p>
            <a:pPr algn="l">
              <a:spcAft>
                <a:spcPts val="200"/>
              </a:spcAft>
            </a:pPr>
            <a:r>
              <a:rPr lang="en-US" sz="1000" dirty="0">
                <a:solidFill>
                  <a:srgbClr val="3D4F6F"/>
                </a:solidFill>
                <a:latin typeface="Calibri"/>
              </a:rPr>
              <a:t>Clamp: [−10, 10]</a:t>
            </a:r>
          </a:p>
          <a:p>
            <a:pPr algn="l"/>
            <a:r>
              <a:rPr lang="en-US" sz="1000" i="1" dirty="0">
                <a:solidFill>
                  <a:srgbClr val="6B7B8D"/>
                </a:solidFill>
                <a:latin typeface="Calibri"/>
              </a:rPr>
              <a:t>Init: W=0, b=−2.0</a:t>
            </a:r>
          </a:p>
        </p:txBody>
      </p:sp>
      <p:sp>
        <p:nvSpPr>
          <p:cNvPr id="241" name="S241"/>
          <p:cNvSpPr/>
          <p:nvPr/>
        </p:nvSpPr>
        <p:spPr>
          <a:xfrm>
            <a:off x="5765800" y="3429000"/>
            <a:ext cx="2768600" cy="1397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1A7A5C"/>
            </a:solidFill>
          </a:ln>
        </p:spPr>
        <p:txBody>
          <a:bodyPr lIns="36000" tIns="18000" rIns="36000" bIns="18000" anchor="ctr"/>
          <a:lstStyle/>
          <a:p>
            <a:endParaRPr lang="en-US" sz="100"/>
          </a:p>
        </p:txBody>
      </p:sp>
      <p:sp>
        <p:nvSpPr>
          <p:cNvPr id="242" name="T242"/>
          <p:cNvSpPr txBox="1"/>
          <p:nvPr/>
        </p:nvSpPr>
        <p:spPr>
          <a:xfrm>
            <a:off x="5765800" y="3479800"/>
            <a:ext cx="2768600" cy="2286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l"/>
            <a:r>
              <a:rPr lang="en-US" sz="1100" b="1" dirty="0">
                <a:solidFill>
                  <a:srgbClr val="1A7A5C"/>
                </a:solidFill>
                <a:latin typeface="Calibri"/>
              </a:rPr>
              <a:t>Output Distribution</a:t>
            </a:r>
          </a:p>
        </p:txBody>
      </p:sp>
      <p:sp>
        <p:nvSpPr>
          <p:cNvPr id="243" name="T243"/>
          <p:cNvSpPr txBox="1"/>
          <p:nvPr/>
        </p:nvSpPr>
        <p:spPr>
          <a:xfrm>
            <a:off x="5765800" y="3733800"/>
            <a:ext cx="2768600" cy="10160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l">
              <a:spcAft>
                <a:spcPts val="300"/>
              </a:spcAft>
            </a:pPr>
            <a:r>
              <a:rPr lang="en-US" sz="1200" i="1" dirty="0">
                <a:solidFill>
                  <a:srgbClr val="1A7A5C"/>
                </a:solidFill>
                <a:latin typeface="Cambria Math"/>
              </a:rPr>
              <a:t>p</a:t>
            </a:r>
            <a:r>
              <a:rPr lang="en-US" sz="1200" dirty="0">
                <a:solidFill>
                  <a:srgbClr val="1A7A5C"/>
                </a:solidFill>
                <a:latin typeface="Cambria Math"/>
              </a:rPr>
              <a:t>(</a:t>
            </a:r>
            <a:r>
              <a:rPr lang="en-US" sz="1200" i="1" dirty="0">
                <a:solidFill>
                  <a:srgbClr val="1A7A5C"/>
                </a:solidFill>
                <a:latin typeface="Cambria Math"/>
              </a:rPr>
              <a:t>y</a:t>
            </a:r>
            <a:r>
              <a:rPr lang="en-US" sz="1200" dirty="0">
                <a:solidFill>
                  <a:srgbClr val="1A7A5C"/>
                </a:solidFill>
                <a:latin typeface="Cambria Math"/>
              </a:rPr>
              <a:t> | </a:t>
            </a:r>
            <a:r>
              <a:rPr lang="en-US" sz="1200" i="1" dirty="0">
                <a:solidFill>
                  <a:srgbClr val="1A7A5C"/>
                </a:solidFill>
                <a:latin typeface="Cambria Math"/>
              </a:rPr>
              <a:t>x</a:t>
            </a:r>
            <a:r>
              <a:rPr lang="en-US" sz="1200" dirty="0">
                <a:solidFill>
                  <a:srgbClr val="1A7A5C"/>
                </a:solidFill>
                <a:latin typeface="Cambria Math"/>
              </a:rPr>
              <a:t>) = ᵊ9(</a:t>
            </a:r>
            <a:r>
              <a:rPr lang="en-US" sz="1200" i="1" dirty="0">
                <a:solidFill>
                  <a:srgbClr val="1A7A5C"/>
                </a:solidFill>
                <a:latin typeface="Cambria Math"/>
              </a:rPr>
              <a:t>μ</a:t>
            </a:r>
            <a:r>
              <a:rPr lang="en-US" sz="1200" dirty="0">
                <a:solidFill>
                  <a:srgbClr val="1A7A5C"/>
                </a:solidFill>
                <a:latin typeface="Cambria Math"/>
              </a:rPr>
              <a:t>, </a:t>
            </a:r>
            <a:r>
              <a:rPr lang="en-US" sz="1200" i="1" dirty="0">
                <a:solidFill>
                  <a:srgbClr val="1A7A5C"/>
                </a:solidFill>
                <a:latin typeface="Cambria Math"/>
              </a:rPr>
              <a:t>σ</a:t>
            </a:r>
            <a:r>
              <a:rPr lang="en-US" sz="900" baseline="30000" dirty="0">
                <a:solidFill>
                  <a:srgbClr val="1A7A5C"/>
                </a:solidFill>
                <a:latin typeface="Cambria Math"/>
              </a:rPr>
              <a:t>2</a:t>
            </a:r>
            <a:r>
              <a:rPr lang="en-US" sz="1200" dirty="0">
                <a:solidFill>
                  <a:srgbClr val="1A7A5C"/>
                </a:solidFill>
                <a:latin typeface="Cambria Math"/>
              </a:rPr>
              <a:t>)</a:t>
            </a:r>
          </a:p>
          <a:p>
            <a:pPr algn="l">
              <a:spcAft>
                <a:spcPts val="200"/>
              </a:spcAft>
            </a:pPr>
            <a:r>
              <a:rPr lang="en-US" sz="1100" i="1" dirty="0">
                <a:solidFill>
                  <a:srgbClr val="1A7A5C"/>
                </a:solidFill>
                <a:latin typeface="Cambria Math"/>
              </a:rPr>
              <a:t>σ</a:t>
            </a:r>
            <a:r>
              <a:rPr lang="en-US" sz="900" baseline="30000" dirty="0">
                <a:solidFill>
                  <a:srgbClr val="1A7A5C"/>
                </a:solidFill>
                <a:latin typeface="Cambria Math"/>
              </a:rPr>
              <a:t>2</a:t>
            </a:r>
            <a:r>
              <a:rPr lang="en-US" sz="800" baseline="-25000" dirty="0">
                <a:solidFill>
                  <a:srgbClr val="1A7A5C"/>
                </a:solidFill>
                <a:latin typeface="Cambria Math"/>
              </a:rPr>
              <a:t>total</a:t>
            </a:r>
            <a:r>
              <a:rPr lang="en-US" sz="1100" dirty="0">
                <a:solidFill>
                  <a:srgbClr val="1A7A5C"/>
                </a:solidFill>
                <a:latin typeface="Cambria Math"/>
              </a:rPr>
              <a:t> = </a:t>
            </a:r>
            <a:r>
              <a:rPr lang="en-US" sz="1100" i="1" dirty="0">
                <a:solidFill>
                  <a:srgbClr val="1A7A5C"/>
                </a:solidFill>
                <a:latin typeface="Cambria Math"/>
              </a:rPr>
              <a:t>σ</a:t>
            </a:r>
            <a:r>
              <a:rPr lang="en-US" sz="900" baseline="30000" dirty="0">
                <a:solidFill>
                  <a:srgbClr val="1A7A5C"/>
                </a:solidFill>
                <a:latin typeface="Cambria Math"/>
              </a:rPr>
              <a:t>2</a:t>
            </a:r>
            <a:r>
              <a:rPr lang="en-US" sz="800" baseline="-25000" dirty="0">
                <a:solidFill>
                  <a:srgbClr val="1A7A5C"/>
                </a:solidFill>
                <a:latin typeface="Cambria Math"/>
              </a:rPr>
              <a:t>ale</a:t>
            </a:r>
            <a:r>
              <a:rPr lang="en-US" sz="1100" dirty="0">
                <a:solidFill>
                  <a:srgbClr val="1A7A5C"/>
                </a:solidFill>
                <a:latin typeface="Cambria Math"/>
              </a:rPr>
              <a:t> + </a:t>
            </a:r>
            <a:r>
              <a:rPr lang="en-US" sz="1100" i="1" dirty="0">
                <a:solidFill>
                  <a:srgbClr val="1A7A5C"/>
                </a:solidFill>
                <a:latin typeface="Cambria Math"/>
              </a:rPr>
              <a:t>σ</a:t>
            </a:r>
            <a:r>
              <a:rPr lang="en-US" sz="900" baseline="30000" dirty="0">
                <a:solidFill>
                  <a:srgbClr val="1A7A5C"/>
                </a:solidFill>
                <a:latin typeface="Cambria Math"/>
              </a:rPr>
              <a:t>2</a:t>
            </a:r>
            <a:r>
              <a:rPr lang="en-US" sz="800" baseline="-25000" dirty="0">
                <a:solidFill>
                  <a:srgbClr val="1A7A5C"/>
                </a:solidFill>
                <a:latin typeface="Cambria Math"/>
              </a:rPr>
              <a:t>epi</a:t>
            </a:r>
          </a:p>
          <a:p>
            <a:pPr algn="l"/>
            <a:r>
              <a:rPr lang="en-US" sz="950" i="1" dirty="0">
                <a:solidFill>
                  <a:srgbClr val="6B7B8D"/>
                </a:solidFill>
                <a:latin typeface="Calibri"/>
              </a:rPr>
              <a:t>Aleatoric from head, epistemic from MC Dropout</a:t>
            </a:r>
          </a:p>
        </p:txBody>
      </p:sp>
      <p:sp>
        <p:nvSpPr>
          <p:cNvPr id="244" name="T244"/>
          <p:cNvSpPr txBox="1"/>
          <p:nvPr/>
        </p:nvSpPr>
        <p:spPr>
          <a:xfrm>
            <a:off x="508000" y="4953000"/>
            <a:ext cx="5080000" cy="203200"/>
          </a:xfrm>
          <a:prstGeom prst="rect">
            <a:avLst/>
          </a:prstGeom>
          <a:noFill/>
          <a:ln w="0">
            <a:noFill/>
          </a:ln>
        </p:spPr>
        <p:txBody>
          <a:bodyPr lIns="54000" tIns="27000" rIns="54000" bIns="27000" anchor="t"/>
          <a:lstStyle/>
          <a:p>
            <a:pPr algn="l"/>
            <a:r>
              <a:rPr lang="en-US" sz="1100" dirty="0">
                <a:solidFill>
                  <a:srgbClr val="9BA7B4"/>
                </a:solidFill>
                <a:latin typeface="Calibri"/>
              </a:rPr>
              <a:t>ProbTSLANet — Core Module Internals</a:t>
            </a:r>
          </a:p>
        </p:txBody>
      </p:sp>
    </p:spTree>
    <p:extLst>
      <p:ext uri="{BB962C8B-B14F-4D97-AF65-F5344CB8AC3E}">
        <p14:creationId xmlns:p14="http://schemas.microsoft.com/office/powerpoint/2010/main" val="4112905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>
            <a:extLst>
              <a:ext uri="{FF2B5EF4-FFF2-40B4-BE49-F238E27FC236}">
                <a16:creationId xmlns:a16="http://schemas.microsoft.com/office/drawing/2014/main" id="{88ADCC4D-0F80-4E5D-AECF-13E5642009AE}"/>
              </a:ext>
            </a:extLst>
          </p:cNvPr>
          <p:cNvSpPr txBox="1"/>
          <p:nvPr/>
        </p:nvSpPr>
        <p:spPr>
          <a:xfrm>
            <a:off x="635000" y="254000"/>
            <a:ext cx="7874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1B2A4A"/>
                </a:solidFill>
                <a:latin typeface="Georgia"/>
              </a:rPr>
              <a:t>Evaluation Framework</a:t>
            </a:r>
            <a:endParaRPr lang="zh-CN" altLang="en-US" sz="2400" b="1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171BB98-3FCA-4760-935C-6FFFC92A07D4}"/>
              </a:ext>
            </a:extLst>
          </p:cNvPr>
          <p:cNvSpPr/>
          <p:nvPr/>
        </p:nvSpPr>
        <p:spPr>
          <a:xfrm>
            <a:off x="635000" y="825500"/>
            <a:ext cx="1016000" cy="381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80B8D231-4DD3-4C75-9FC4-05BB979650C7}"/>
              </a:ext>
            </a:extLst>
          </p:cNvPr>
          <p:cNvSpPr/>
          <p:nvPr/>
        </p:nvSpPr>
        <p:spPr>
          <a:xfrm>
            <a:off x="635000" y="1041400"/>
            <a:ext cx="2476500" cy="2476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32FD79-DAFE-432C-8CAA-54B3E464CFC1}"/>
              </a:ext>
            </a:extLst>
          </p:cNvPr>
          <p:cNvSpPr/>
          <p:nvPr/>
        </p:nvSpPr>
        <p:spPr>
          <a:xfrm>
            <a:off x="635000" y="1041400"/>
            <a:ext cx="50800" cy="24765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F7A4AF8-D4F4-41F5-BF17-5FECAADD1A50}"/>
              </a:ext>
            </a:extLst>
          </p:cNvPr>
          <p:cNvSpPr txBox="1"/>
          <p:nvPr/>
        </p:nvSpPr>
        <p:spPr>
          <a:xfrm>
            <a:off x="812800" y="1168400"/>
            <a:ext cx="21717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2B5797"/>
                </a:solidFill>
                <a:latin typeface="Georgia"/>
              </a:rPr>
              <a:t>Point Metrics</a:t>
            </a:r>
            <a:endParaRPr lang="zh-CN" altLang="en-US" sz="1500" b="1">
              <a:solidFill>
                <a:srgbClr val="2B5797"/>
              </a:solidFill>
              <a:latin typeface="Georgi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EDDD4D6-E0BC-4F30-8A3E-F9AB894320C8}"/>
              </a:ext>
            </a:extLst>
          </p:cNvPr>
          <p:cNvSpPr txBox="1"/>
          <p:nvPr/>
        </p:nvSpPr>
        <p:spPr>
          <a:xfrm>
            <a:off x="812800" y="1574800"/>
            <a:ext cx="21717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MSE
MAE
RMSE</a:t>
            </a:r>
            <a:endParaRPr lang="zh-CN" altLang="en-US" sz="1400">
              <a:solidFill>
                <a:srgbClr val="3D4F6F"/>
              </a:solidFill>
              <a:latin typeface="Calibri"/>
              <a:cs typeface="Calibri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853CCBE-4A1C-40CA-9C81-31B62EAAB3F0}"/>
              </a:ext>
            </a:extLst>
          </p:cNvPr>
          <p:cNvSpPr/>
          <p:nvPr/>
        </p:nvSpPr>
        <p:spPr>
          <a:xfrm>
            <a:off x="3302000" y="1041400"/>
            <a:ext cx="2476500" cy="2476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A33E85B-9C5C-4400-AD75-F92BB909802B}"/>
              </a:ext>
            </a:extLst>
          </p:cNvPr>
          <p:cNvSpPr/>
          <p:nvPr/>
        </p:nvSpPr>
        <p:spPr>
          <a:xfrm>
            <a:off x="3302000" y="1041400"/>
            <a:ext cx="50800" cy="2476500"/>
          </a:xfrm>
          <a:prstGeom prst="rect">
            <a:avLst/>
          </a:prstGeom>
          <a:solidFill>
            <a:srgbClr val="1A7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0DF1480-E6AB-4D0A-9593-98C133BAB828}"/>
              </a:ext>
            </a:extLst>
          </p:cNvPr>
          <p:cNvSpPr txBox="1"/>
          <p:nvPr/>
        </p:nvSpPr>
        <p:spPr>
          <a:xfrm>
            <a:off x="3479800" y="1168400"/>
            <a:ext cx="21717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1A7A5C"/>
                </a:solidFill>
                <a:latin typeface="Georgia"/>
              </a:rPr>
              <a:t>Probabilistic Metrics</a:t>
            </a:r>
            <a:endParaRPr lang="zh-CN" altLang="en-US" sz="1500" b="1">
              <a:solidFill>
                <a:srgbClr val="1A7A5C"/>
              </a:solidFill>
              <a:latin typeface="Georgia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EBD16046-A897-42F6-BDCD-09F9D76A8DEC}"/>
              </a:ext>
            </a:extLst>
          </p:cNvPr>
          <p:cNvSpPr txBox="1"/>
          <p:nvPr/>
        </p:nvSpPr>
        <p:spPr>
          <a:xfrm>
            <a:off x="3486150" y="1682750"/>
            <a:ext cx="21717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 dirty="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NLL (Negative Log-Likelihood)
CRPS (Continuous Ranked P.S.)
Calibration Error
Sharpness (90% &amp; 50%)</a:t>
            </a:r>
            <a:endParaRPr lang="zh-CN" altLang="en-US" sz="1400" dirty="0">
              <a:solidFill>
                <a:srgbClr val="3D4F6F"/>
              </a:solidFill>
              <a:latin typeface="Calibri"/>
              <a:cs typeface="Calibri"/>
            </a:endParaRP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F81D3627-5207-4A3C-A56B-4636F4922135}"/>
              </a:ext>
            </a:extLst>
          </p:cNvPr>
          <p:cNvSpPr/>
          <p:nvPr/>
        </p:nvSpPr>
        <p:spPr>
          <a:xfrm>
            <a:off x="5969000" y="1041400"/>
            <a:ext cx="2476500" cy="2476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8B70B5E0-DFFC-448A-A42B-459D41F7A266}"/>
              </a:ext>
            </a:extLst>
          </p:cNvPr>
          <p:cNvSpPr/>
          <p:nvPr/>
        </p:nvSpPr>
        <p:spPr>
          <a:xfrm>
            <a:off x="5969000" y="1041400"/>
            <a:ext cx="50800" cy="2476500"/>
          </a:xfrm>
          <a:prstGeom prst="rect">
            <a:avLst/>
          </a:prstGeom>
          <a:solidFill>
            <a:srgbClr val="6C5B7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6DBB61F-F6B5-421E-B50A-AC8F38AD5F15}"/>
              </a:ext>
            </a:extLst>
          </p:cNvPr>
          <p:cNvSpPr txBox="1"/>
          <p:nvPr/>
        </p:nvSpPr>
        <p:spPr>
          <a:xfrm>
            <a:off x="6146800" y="1168400"/>
            <a:ext cx="21717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6C5B7B"/>
                </a:solidFill>
                <a:latin typeface="Georgia"/>
              </a:rPr>
              <a:t>Decomposition</a:t>
            </a:r>
            <a:endParaRPr lang="zh-CN" altLang="en-US" sz="1500" b="1">
              <a:solidFill>
                <a:srgbClr val="6C5B7B"/>
              </a:solidFill>
              <a:latin typeface="Georgia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F2ABC64E-01D4-46C5-AD85-289B992DDCFE}"/>
              </a:ext>
            </a:extLst>
          </p:cNvPr>
          <p:cNvSpPr txBox="1"/>
          <p:nvPr/>
        </p:nvSpPr>
        <p:spPr>
          <a:xfrm>
            <a:off x="6146800" y="1574800"/>
            <a:ext cx="21717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Mean Epistemic Var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Mean Aleatoric Var</a:t>
            </a:r>
          </a:p>
          <a:p>
            <a:pPr marL="0" indent="0">
              <a:spcAft>
                <a:spcPts val="500"/>
              </a:spcAft>
              <a:buNone/>
            </a:pPr>
            <a:r>
              <a:rPr lang="en-US" sz="1400" dirty="0">
                <a:solidFill>
                  <a:srgbClr val="3D4F6F"/>
                </a:solidFill>
                <a:latin typeface="Calibri"/>
              </a:rPr>
              <a:t>Epistemic Fraction</a:t>
            </a:r>
          </a:p>
          <a:p>
            <a:pPr marL="0" indent="0">
              <a:buNone/>
            </a:pP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11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100" baseline="-25000" dirty="0">
                <a:solidFill>
                  <a:srgbClr val="2B5797"/>
                </a:solidFill>
                <a:latin typeface="Cambria Math"/>
              </a:rPr>
              <a:t>epist</a:t>
            </a:r>
            <a:r>
              <a:rPr lang="en-US" sz="1400" dirty="0">
                <a:solidFill>
                  <a:srgbClr val="2B5797"/>
                </a:solidFill>
                <a:latin typeface="Cambria Math"/>
              </a:rPr>
              <a:t> / </a:t>
            </a:r>
            <a:r>
              <a:rPr lang="en-US" sz="14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11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100" baseline="-25000" dirty="0">
                <a:solidFill>
                  <a:srgbClr val="2B5797"/>
                </a:solidFill>
                <a:latin typeface="Cambria Math"/>
              </a:rPr>
              <a:t>total</a:t>
            </a:r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72005982-2401-426F-9E76-D26B846F726F}"/>
              </a:ext>
            </a:extLst>
          </p:cNvPr>
          <p:cNvSpPr/>
          <p:nvPr/>
        </p:nvSpPr>
        <p:spPr>
          <a:xfrm>
            <a:off x="635000" y="3746500"/>
            <a:ext cx="7874000" cy="9144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D13A0B1-A6B1-403B-BB1C-022A1DA727E2}"/>
              </a:ext>
            </a:extLst>
          </p:cNvPr>
          <p:cNvSpPr/>
          <p:nvPr/>
        </p:nvSpPr>
        <p:spPr>
          <a:xfrm>
            <a:off x="635000" y="3746500"/>
            <a:ext cx="50800" cy="7874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DD45ADB-A2A9-46EB-AA7B-0B54338D3FD1}"/>
              </a:ext>
            </a:extLst>
          </p:cNvPr>
          <p:cNvSpPr txBox="1"/>
          <p:nvPr/>
        </p:nvSpPr>
        <p:spPr>
          <a:xfrm>
            <a:off x="863600" y="3810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E67E22"/>
                </a:solidFill>
                <a:latin typeface="Georgia"/>
              </a:rPr>
              <a:t>Visualisation Outputs</a:t>
            </a:r>
            <a:endParaRPr lang="zh-CN" altLang="en-US" sz="1500" b="1">
              <a:solidFill>
                <a:srgbClr val="E67E22"/>
              </a:solidFill>
              <a:latin typeface="Georgi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B7240FD-C26C-4A8C-B7AB-1D6AC681FFFC}"/>
              </a:ext>
            </a:extLst>
          </p:cNvPr>
          <p:cNvSpPr txBox="1"/>
          <p:nvPr/>
        </p:nvSpPr>
        <p:spPr>
          <a:xfrm>
            <a:off x="863600" y="4114800"/>
            <a:ext cx="7493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Prediction Intervals (50/90/95%)  •  Calibration Plot  •  Uncertainty Decomposition (stacked area)  •  Heatmap (error vs aleatoric vs epistemic vs total)</a:t>
            </a:r>
            <a:endParaRPr lang="zh-CN" altLang="en-US" sz="1400">
              <a:solidFill>
                <a:srgbClr val="3D4F6F"/>
              </a:solidFill>
              <a:latin typeface="Calibri"/>
              <a:cs typeface="Calibri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5665F75-F8FA-4E7A-BB2E-0A881E9CA4A9}"/>
              </a:ext>
            </a:extLst>
          </p:cNvPr>
          <p:cNvSpPr txBox="1"/>
          <p:nvPr/>
        </p:nvSpPr>
        <p:spPr>
          <a:xfrm>
            <a:off x="635000" y="4826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9BA7B4"/>
                </a:solidFill>
                <a:latin typeface="Calibri"/>
                <a:ea typeface="Calibri"/>
                <a:cs typeface="Calibri"/>
              </a:rPr>
              <a:t>ProbTSLANet — Evaluation</a:t>
            </a:r>
            <a:endParaRPr lang="zh-CN" altLang="en-US" sz="1400">
              <a:solidFill>
                <a:srgbClr val="9BA7B4"/>
              </a:solidFill>
              <a:latin typeface="Calibri"/>
              <a:cs typeface="Calibri"/>
            </a:endParaRPr>
          </a:p>
        </p:txBody>
      </p:sp>
      <p:pic>
        <p:nvPicPr>
          <p:cNvPr id="41" name="Graphic 41" descr="Evaluation chart ic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28000" y="254000"/>
            <a:ext cx="5080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338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31EC91D4-9B6F-43DC-B9B3-A38C8A14A551}"/>
              </a:ext>
            </a:extLst>
          </p:cNvPr>
          <p:cNvSpPr txBox="1"/>
          <p:nvPr/>
        </p:nvSpPr>
        <p:spPr>
          <a:xfrm>
            <a:off x="635000" y="254000"/>
            <a:ext cx="7874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1B2A4A"/>
                </a:solidFill>
                <a:latin typeface="Georgia"/>
              </a:rPr>
              <a:t>Experimental Design</a:t>
            </a:r>
            <a:endParaRPr lang="zh-CN" altLang="en-US" sz="2400" b="1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F2B0A78-26EE-4E80-9420-1482B558C318}"/>
              </a:ext>
            </a:extLst>
          </p:cNvPr>
          <p:cNvSpPr/>
          <p:nvPr/>
        </p:nvSpPr>
        <p:spPr>
          <a:xfrm>
            <a:off x="635000" y="825500"/>
            <a:ext cx="1016000" cy="381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34EA3B5C-A0BF-4C7D-A6D2-CD5AC87B7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1268583"/>
              </p:ext>
            </p:extLst>
          </p:nvPr>
        </p:nvGraphicFramePr>
        <p:xfrm>
          <a:off x="635000" y="1041400"/>
          <a:ext cx="7874000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4800">
                  <a:extLst>
                    <a:ext uri="{9D8B030D-6E8A-4147-A177-3AD203B41FA5}">
                      <a16:colId xmlns:a16="http://schemas.microsoft.com/office/drawing/2014/main" val="677861255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473578095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263497324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1369798846"/>
                    </a:ext>
                  </a:extLst>
                </a:gridCol>
                <a:gridCol w="1574800">
                  <a:extLst>
                    <a:ext uri="{9D8B030D-6E8A-4147-A177-3AD203B41FA5}">
                      <a16:colId xmlns:a16="http://schemas.microsoft.com/office/drawing/2014/main" val="1253290233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Config</a:t>
                      </a:r>
                    </a:p>
                  </a:txBody>
                  <a:tcPr anchor="ctr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Probabilistic</a:t>
                      </a:r>
                    </a:p>
                  </a:txBody>
                  <a:tcPr anchor="ctr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MC Dropout</a:t>
                      </a:r>
                    </a:p>
                  </a:txBody>
                  <a:tcPr anchor="ctr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Loss</a:t>
                      </a:r>
                    </a:p>
                  </a:txBody>
                  <a:tcPr anchor="ctr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Uncertainty</a:t>
                      </a:r>
                    </a:p>
                  </a:txBody>
                  <a:tcPr anchor="ctr">
                    <a:solidFill>
                      <a:srgbClr val="2B57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620509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A1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MSE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None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436044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A2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MSE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Epistemic only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83075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A3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Gaussian NLL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Aleatoric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366354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A4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✓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Gaussian NLL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Full decomposition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5659345"/>
                  </a:ext>
                </a:extLst>
              </a:tr>
            </a:tbl>
          </a:graphicData>
        </a:graphic>
      </p:graphicFrame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1FED7C5-B386-44D7-81D4-240754ED7FF7}"/>
              </a:ext>
            </a:extLst>
          </p:cNvPr>
          <p:cNvSpPr/>
          <p:nvPr/>
        </p:nvSpPr>
        <p:spPr>
          <a:xfrm>
            <a:off x="635000" y="3302000"/>
            <a:ext cx="3810000" cy="1206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17E9F5E-9B8F-414E-89EE-D7D9E3DA4B24}"/>
              </a:ext>
            </a:extLst>
          </p:cNvPr>
          <p:cNvSpPr/>
          <p:nvPr/>
        </p:nvSpPr>
        <p:spPr>
          <a:xfrm>
            <a:off x="635000" y="3302000"/>
            <a:ext cx="50800" cy="12065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9213FE-2201-446C-9494-EF2BFE494619}"/>
              </a:ext>
            </a:extLst>
          </p:cNvPr>
          <p:cNvSpPr txBox="1"/>
          <p:nvPr/>
        </p:nvSpPr>
        <p:spPr>
          <a:xfrm>
            <a:off x="863600" y="34036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E67E22"/>
                </a:solidFill>
                <a:latin typeface="Georgia"/>
              </a:rPr>
              <a:t>Horizon Comparison</a:t>
            </a:r>
            <a:endParaRPr lang="zh-CN" altLang="en-US" sz="1500" b="1">
              <a:solidFill>
                <a:srgbClr val="E67E22"/>
              </a:solidFill>
              <a:latin typeface="Georgi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55A1197-4713-45CD-8C5B-0176E01AE3D2}"/>
              </a:ext>
            </a:extLst>
          </p:cNvPr>
          <p:cNvSpPr txBox="1"/>
          <p:nvPr/>
        </p:nvSpPr>
        <p:spPr>
          <a:xfrm>
            <a:off x="863600" y="3746500"/>
            <a:ext cx="342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Each config tested at pred_len = 96 and 336, yielding 8 total experiments (4 × 2 horizons)</a:t>
            </a:r>
            <a:endParaRPr lang="zh-CN" altLang="en-US" sz="1400">
              <a:solidFill>
                <a:srgbClr val="3D4F6F"/>
              </a:solidFill>
              <a:latin typeface="Calibri"/>
              <a:cs typeface="Calibri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49DBBB0-8F2D-4736-9BA8-52A8AA9AF4BF}"/>
              </a:ext>
            </a:extLst>
          </p:cNvPr>
          <p:cNvSpPr/>
          <p:nvPr/>
        </p:nvSpPr>
        <p:spPr>
          <a:xfrm>
            <a:off x="4699000" y="3302000"/>
            <a:ext cx="3810000" cy="12065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2C6D004-B8FC-41B8-8CA7-FF6127A6075E}"/>
              </a:ext>
            </a:extLst>
          </p:cNvPr>
          <p:cNvSpPr/>
          <p:nvPr/>
        </p:nvSpPr>
        <p:spPr>
          <a:xfrm>
            <a:off x="4699000" y="3302000"/>
            <a:ext cx="50800" cy="1206500"/>
          </a:xfrm>
          <a:prstGeom prst="rect">
            <a:avLst/>
          </a:prstGeom>
          <a:solidFill>
            <a:srgbClr val="6C5B7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9E27C188-74E7-4BAB-82BB-A73D708E5E31}"/>
              </a:ext>
            </a:extLst>
          </p:cNvPr>
          <p:cNvSpPr txBox="1"/>
          <p:nvPr/>
        </p:nvSpPr>
        <p:spPr>
          <a:xfrm>
            <a:off x="4927600" y="3403600"/>
            <a:ext cx="342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6C5B7B"/>
                </a:solidFill>
                <a:latin typeface="Georgia"/>
              </a:rPr>
              <a:t>Ablation: ASB + ICB</a:t>
            </a:r>
            <a:endParaRPr lang="zh-CN" altLang="en-US" sz="1500" b="1">
              <a:solidFill>
                <a:srgbClr val="6C5B7B"/>
              </a:solidFill>
              <a:latin typeface="Georgi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A526371-75A1-4724-A0E2-1D5A0780087B}"/>
              </a:ext>
            </a:extLst>
          </p:cNvPr>
          <p:cNvSpPr txBox="1"/>
          <p:nvPr/>
        </p:nvSpPr>
        <p:spPr>
          <a:xfrm>
            <a:off x="4927600" y="3746500"/>
            <a:ext cx="3429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TSLANet_layer supports toggling ASB and ICB independently via --ASB and --ICB flags for component-level analysis</a:t>
            </a:r>
            <a:endParaRPr lang="zh-CN" altLang="en-US" sz="1400">
              <a:solidFill>
                <a:srgbClr val="3D4F6F"/>
              </a:solidFill>
              <a:latin typeface="Calibri"/>
              <a:cs typeface="Calibri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6EC8D40-ABE5-40B8-8C3B-5DDF98467DCC}"/>
              </a:ext>
            </a:extLst>
          </p:cNvPr>
          <p:cNvSpPr txBox="1"/>
          <p:nvPr/>
        </p:nvSpPr>
        <p:spPr>
          <a:xfrm>
            <a:off x="635000" y="4826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9BA7B4"/>
                </a:solidFill>
                <a:latin typeface="Calibri"/>
                <a:ea typeface="Calibri"/>
                <a:cs typeface="Calibri"/>
              </a:rPr>
              <a:t>ProbTSLANet — Experiments</a:t>
            </a:r>
            <a:endParaRPr lang="zh-CN" altLang="en-US" sz="1400">
              <a:solidFill>
                <a:srgbClr val="9BA7B4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8DF1968-3E44-496C-BF51-E6868D429DF9}"/>
              </a:ext>
            </a:extLst>
          </p:cNvPr>
          <p:cNvSpPr txBox="1"/>
          <p:nvPr/>
        </p:nvSpPr>
        <p:spPr>
          <a:xfrm>
            <a:off x="635000" y="254000"/>
            <a:ext cx="7874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1B2A4A"/>
                </a:solidFill>
                <a:latin typeface="Georgia"/>
              </a:rPr>
              <a:t>Hyperparameters &amp; Reproducibility</a:t>
            </a:r>
            <a:endParaRPr lang="zh-CN" altLang="en-US" sz="2400" b="1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A88E579-16C8-4754-A865-A64F8148C748}"/>
              </a:ext>
            </a:extLst>
          </p:cNvPr>
          <p:cNvSpPr/>
          <p:nvPr/>
        </p:nvSpPr>
        <p:spPr>
          <a:xfrm>
            <a:off x="635000" y="825500"/>
            <a:ext cx="1016000" cy="381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3C42B88C-94DC-4C37-8720-69E788E855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120729"/>
              </p:ext>
            </p:extLst>
          </p:nvPr>
        </p:nvGraphicFramePr>
        <p:xfrm>
          <a:off x="635000" y="1041400"/>
          <a:ext cx="78740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8500">
                  <a:extLst>
                    <a:ext uri="{9D8B030D-6E8A-4147-A177-3AD203B41FA5}">
                      <a16:colId xmlns:a16="http://schemas.microsoft.com/office/drawing/2014/main" val="3043550317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4031969731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4282315943"/>
                    </a:ext>
                  </a:extLst>
                </a:gridCol>
                <a:gridCol w="1968500">
                  <a:extLst>
                    <a:ext uri="{9D8B030D-6E8A-4147-A177-3AD203B41FA5}">
                      <a16:colId xmlns:a16="http://schemas.microsoft.com/office/drawing/2014/main" val="54174063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</a:t>
                      </a:r>
                    </a:p>
                  </a:txBody>
                  <a:tcPr anchor="ctr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Parameter</a:t>
                      </a:r>
                    </a:p>
                  </a:txBody>
                  <a:tcPr anchor="ctr"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2B57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53647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seq_len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batch_size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35837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label_len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48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lr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1e-4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58419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emb_dim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32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pretrain_epochs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37722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depth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train_epochs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15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99807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patch_size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mc_samples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50464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dropout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0.3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="1">
                          <a:solidFill>
                            <a:srgbClr val="2B5797"/>
                          </a:solidFill>
                          <a:latin typeface="Calibri"/>
                          <a:cs typeface="Calibri"/>
                        </a:rPr>
                        <a:t>seed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>
                          <a:solidFill>
                            <a:srgbClr val="1B2A4A"/>
                          </a:solidFill>
                          <a:latin typeface="Calibri"/>
                          <a:cs typeface="Calibri"/>
                        </a:rPr>
                        <a:t>42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132398"/>
                  </a:ext>
                </a:extLst>
              </a:tr>
            </a:tbl>
          </a:graphicData>
        </a:graphic>
      </p:graphicFrame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7141BF4-9699-4A15-8F60-94011210EC62}"/>
              </a:ext>
            </a:extLst>
          </p:cNvPr>
          <p:cNvSpPr/>
          <p:nvPr/>
        </p:nvSpPr>
        <p:spPr>
          <a:xfrm>
            <a:off x="635000" y="3784600"/>
            <a:ext cx="7874000" cy="8636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16BD89D-A5C6-4665-8B4E-34765EE96781}"/>
              </a:ext>
            </a:extLst>
          </p:cNvPr>
          <p:cNvSpPr/>
          <p:nvPr/>
        </p:nvSpPr>
        <p:spPr>
          <a:xfrm>
            <a:off x="635000" y="3784600"/>
            <a:ext cx="50800" cy="863600"/>
          </a:xfrm>
          <a:prstGeom prst="rect">
            <a:avLst/>
          </a:prstGeom>
          <a:solidFill>
            <a:srgbClr val="1A7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A22728C-2E4D-4C12-8B87-49965F7FF517}"/>
              </a:ext>
            </a:extLst>
          </p:cNvPr>
          <p:cNvSpPr txBox="1"/>
          <p:nvPr/>
        </p:nvSpPr>
        <p:spPr>
          <a:xfrm>
            <a:off x="863600" y="38354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zh-CN" sz="1400" b="1">
                <a:solidFill>
                  <a:srgbClr val="1A7A5C"/>
                </a:solidFill>
                <a:latin typeface="Georgia"/>
              </a:rPr>
              <a:t>Fully Reproducible</a:t>
            </a:r>
            <a:endParaRPr lang="zh-CN" altLang="en-US" sz="1400" b="1">
              <a:solidFill>
                <a:srgbClr val="1A7A5C"/>
              </a:solidFill>
              <a:latin typeface="Georgia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0741D80-876D-4C82-A71B-A0542D4C3791}"/>
              </a:ext>
            </a:extLst>
          </p:cNvPr>
          <p:cNvSpPr txBox="1"/>
          <p:nvPr/>
        </p:nvSpPr>
        <p:spPr>
          <a:xfrm>
            <a:off x="863600" y="4165600"/>
            <a:ext cx="7493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zh-CN" sz="14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CPU-only, 2 additional packages (pandas + matplotlib), run_all.sh trains and tests all 8 experiments in ~30–60 min</a:t>
            </a:r>
            <a:endParaRPr lang="zh-CN" altLang="en-US" sz="1400">
              <a:solidFill>
                <a:srgbClr val="3D4F6F"/>
              </a:solidFill>
              <a:latin typeface="Calibri"/>
              <a:cs typeface="Calibri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4678317-5681-4231-83D1-5F1EA50B211A}"/>
              </a:ext>
            </a:extLst>
          </p:cNvPr>
          <p:cNvSpPr txBox="1"/>
          <p:nvPr/>
        </p:nvSpPr>
        <p:spPr>
          <a:xfrm>
            <a:off x="635000" y="4826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9BA7B4"/>
                </a:solidFill>
                <a:latin typeface="Calibri"/>
                <a:ea typeface="Calibri"/>
                <a:cs typeface="Calibri"/>
              </a:rPr>
              <a:t>ProbTSLANet — Hyperparameters</a:t>
            </a:r>
            <a:endParaRPr lang="zh-CN" altLang="en-US" sz="1400">
              <a:solidFill>
                <a:srgbClr val="9BA7B4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ECD76E50-F2D3-4C28-B314-B8B2662075C5}"/>
              </a:ext>
            </a:extLst>
          </p:cNvPr>
          <p:cNvSpPr txBox="1"/>
          <p:nvPr/>
        </p:nvSpPr>
        <p:spPr>
          <a:xfrm>
            <a:off x="635000" y="254000"/>
            <a:ext cx="7874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1B2A4A"/>
                </a:solidFill>
                <a:latin typeface="Georgia"/>
              </a:rPr>
              <a:t>Progress &amp; Technical Challenges</a:t>
            </a:r>
            <a:endParaRPr lang="zh-CN" altLang="en-US" sz="2400" b="1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526B341-AF8F-44F5-B164-5E87BD9A7DB6}"/>
              </a:ext>
            </a:extLst>
          </p:cNvPr>
          <p:cNvSpPr/>
          <p:nvPr/>
        </p:nvSpPr>
        <p:spPr>
          <a:xfrm>
            <a:off x="635000" y="825500"/>
            <a:ext cx="1016000" cy="381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2E74AC90-784B-43CC-A2A7-DFEE3423706B}"/>
              </a:ext>
            </a:extLst>
          </p:cNvPr>
          <p:cNvSpPr/>
          <p:nvPr/>
        </p:nvSpPr>
        <p:spPr>
          <a:xfrm>
            <a:off x="635000" y="1041400"/>
            <a:ext cx="3810000" cy="35560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8A38F48-7033-4555-A208-E2CA675CFADF}"/>
              </a:ext>
            </a:extLst>
          </p:cNvPr>
          <p:cNvSpPr/>
          <p:nvPr/>
        </p:nvSpPr>
        <p:spPr>
          <a:xfrm>
            <a:off x="635000" y="1041400"/>
            <a:ext cx="50800" cy="3556000"/>
          </a:xfrm>
          <a:prstGeom prst="rect">
            <a:avLst/>
          </a:prstGeom>
          <a:solidFill>
            <a:srgbClr val="1A7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D143F7C-1B6F-4B9D-9E41-2BA4E12A8400}"/>
              </a:ext>
            </a:extLst>
          </p:cNvPr>
          <p:cNvSpPr txBox="1"/>
          <p:nvPr/>
        </p:nvSpPr>
        <p:spPr>
          <a:xfrm>
            <a:off x="863600" y="1143000"/>
            <a:ext cx="3429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600" b="1">
                <a:solidFill>
                  <a:srgbClr val="1A7A5C"/>
                </a:solidFill>
                <a:latin typeface="Georgia"/>
              </a:rPr>
              <a:t>Completed</a:t>
            </a:r>
            <a:endParaRPr lang="zh-CN" altLang="en-US" sz="1600" b="1">
              <a:solidFill>
                <a:srgbClr val="1A7A5C"/>
              </a:solidFill>
              <a:latin typeface="Georgi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1C2BC0-A1A6-473E-A752-39AD918D4B6D}"/>
              </a:ext>
            </a:extLst>
          </p:cNvPr>
          <p:cNvSpPr txBox="1"/>
          <p:nvPr/>
        </p:nvSpPr>
        <p:spPr>
          <a:xfrm>
            <a:off x="863600" y="1498600"/>
            <a:ext cx="3429000" cy="302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spcAft>
                <a:spcPts val="300"/>
              </a:spcAft>
              <a:buFont typeface="Arial"/>
              <a:buChar char="✓"/>
            </a:pPr>
            <a:r>
              <a:rPr lang="en-US" sz="1300" dirty="0">
                <a:solidFill>
                  <a:srgbClr val="3D4F6F"/>
                </a:solidFill>
                <a:latin typeface="Calibri"/>
              </a:rPr>
              <a:t>Data pipeline with StandardScaler + temporal features</a:t>
            </a:r>
          </a:p>
          <a:p>
            <a:pPr marL="228600" indent="-228600">
              <a:spcAft>
                <a:spcPts val="300"/>
              </a:spcAft>
              <a:buFont typeface="Arial"/>
              <a:buChar char="✓"/>
            </a:pPr>
            <a:r>
              <a:rPr lang="en-US" sz="1300" dirty="0">
                <a:solidFill>
                  <a:srgbClr val="3D4F6F"/>
                </a:solidFill>
                <a:latin typeface="Calibri"/>
              </a:rPr>
              <a:t>Full ProbTSLANet architecture (ICB + ASB + heads)</a:t>
            </a:r>
          </a:p>
          <a:p>
            <a:pPr marL="228600" indent="-228600">
              <a:spcAft>
                <a:spcPts val="300"/>
              </a:spcAft>
              <a:buFont typeface="Arial"/>
              <a:buChar char="✓"/>
            </a:pPr>
            <a:r>
              <a:rPr lang="en-US" sz="1300" dirty="0">
                <a:solidFill>
                  <a:srgbClr val="3D4F6F"/>
                </a:solidFill>
                <a:latin typeface="Calibri"/>
              </a:rPr>
              <a:t>Self-supervised pretraining (masked patch reconstruction)</a:t>
            </a:r>
          </a:p>
          <a:p>
            <a:pPr marL="228600" indent="-228600">
              <a:spcAft>
                <a:spcPts val="300"/>
              </a:spcAft>
              <a:buFont typeface="Arial"/>
              <a:buChar char="✓"/>
            </a:pPr>
            <a:r>
              <a:rPr lang="en-US" sz="1300" dirty="0">
                <a:solidFill>
                  <a:srgbClr val="3D4F6F"/>
                </a:solidFill>
                <a:latin typeface="Calibri"/>
              </a:rPr>
              <a:t>Gaussian NLL loss + MC Dropout inference</a:t>
            </a:r>
          </a:p>
          <a:p>
            <a:pPr marL="228600" indent="-228600">
              <a:spcAft>
                <a:spcPts val="300"/>
              </a:spcAft>
              <a:buFont typeface="Arial"/>
              <a:buChar char="✓"/>
            </a:pPr>
            <a:r>
              <a:rPr lang="en-US" sz="1300" dirty="0">
                <a:solidFill>
                  <a:srgbClr val="3D4F6F"/>
                </a:solidFill>
                <a:latin typeface="Calibri"/>
              </a:rPr>
              <a:t>Comprehensive evaluation suite (7+ metrics)</a:t>
            </a:r>
          </a:p>
          <a:p>
            <a:pPr marL="228600" indent="-228600">
              <a:spcAft>
                <a:spcPts val="300"/>
              </a:spcAft>
              <a:buFont typeface="Arial"/>
              <a:buChar char="✓"/>
            </a:pPr>
            <a:r>
              <a:rPr lang="en-US" sz="1300" dirty="0">
                <a:solidFill>
                  <a:srgbClr val="3D4F6F"/>
                </a:solidFill>
                <a:latin typeface="Calibri"/>
              </a:rPr>
              <a:t>4 diagnostic visualisations</a:t>
            </a:r>
          </a:p>
          <a:p>
            <a:pPr marL="228600" indent="-228600">
              <a:buFont typeface="Arial"/>
              <a:buChar char="✓"/>
            </a:pPr>
            <a:r>
              <a:rPr lang="en-US" sz="1300" dirty="0">
                <a:solidFill>
                  <a:srgbClr val="3D4F6F"/>
                </a:solidFill>
                <a:latin typeface="Calibri"/>
              </a:rPr>
              <a:t>Fully self-contained train.py + test.py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F274973D-8D94-46E4-BFAB-044A38CF6D39}"/>
              </a:ext>
            </a:extLst>
          </p:cNvPr>
          <p:cNvSpPr/>
          <p:nvPr/>
        </p:nvSpPr>
        <p:spPr>
          <a:xfrm>
            <a:off x="4699000" y="1041400"/>
            <a:ext cx="3810000" cy="35560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E95F79F-353F-48B7-88ED-54FDE0FC8E6E}"/>
              </a:ext>
            </a:extLst>
          </p:cNvPr>
          <p:cNvSpPr/>
          <p:nvPr/>
        </p:nvSpPr>
        <p:spPr>
          <a:xfrm>
            <a:off x="4699000" y="1041400"/>
            <a:ext cx="50800" cy="35560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EB9E4D4-5247-4D26-A52A-723771A5A519}"/>
              </a:ext>
            </a:extLst>
          </p:cNvPr>
          <p:cNvSpPr txBox="1"/>
          <p:nvPr/>
        </p:nvSpPr>
        <p:spPr>
          <a:xfrm>
            <a:off x="4927600" y="1143000"/>
            <a:ext cx="3429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600" b="1">
                <a:solidFill>
                  <a:srgbClr val="C0392B"/>
                </a:solidFill>
                <a:latin typeface="Georgia"/>
              </a:rPr>
              <a:t>Challenges &amp; Solutions</a:t>
            </a:r>
            <a:endParaRPr lang="zh-CN" altLang="en-US" sz="1600" b="1">
              <a:solidFill>
                <a:srgbClr val="C0392B"/>
              </a:solidFill>
              <a:latin typeface="Georgi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B7835C9-EB8E-4223-86D4-A875A1A357C9}"/>
              </a:ext>
            </a:extLst>
          </p:cNvPr>
          <p:cNvSpPr txBox="1"/>
          <p:nvPr/>
        </p:nvSpPr>
        <p:spPr>
          <a:xfrm>
            <a:off x="4927600" y="1498600"/>
            <a:ext cx="3429000" cy="3022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3D4F6F"/>
                </a:solidFill>
                <a:latin typeface="Calibri"/>
              </a:rPr>
              <a:t>log_var instability → Clamped to [−10, 10]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3D4F6F"/>
                </a:solidFill>
                <a:latin typeface="Calibri"/>
              </a:rPr>
              <a:t>RevIN denorm for log </a:t>
            </a:r>
            <a:r>
              <a:rPr lang="en-US" sz="13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1000" baseline="30000" dirty="0">
                <a:solidFill>
                  <a:srgbClr val="2B5797"/>
                </a:solidFill>
                <a:latin typeface="Cambria Math"/>
              </a:rPr>
              <a:t>2</a:t>
            </a:r>
            <a:r>
              <a:rPr lang="en-US" sz="1300" dirty="0">
                <a:solidFill>
                  <a:srgbClr val="3D4F6F"/>
                </a:solidFill>
                <a:latin typeface="Calibri"/>
              </a:rPr>
              <a:t> → Analytic correction: +2 log </a:t>
            </a:r>
            <a:r>
              <a:rPr lang="en-US" sz="1300" i="1" dirty="0">
                <a:solidFill>
                  <a:srgbClr val="2B5797"/>
                </a:solidFill>
                <a:latin typeface="Cambria Math"/>
              </a:rPr>
              <a:t>σ</a:t>
            </a:r>
            <a:r>
              <a:rPr lang="en-US" sz="1000" i="1" baseline="-25000" dirty="0">
                <a:solidFill>
                  <a:srgbClr val="2B5797"/>
                </a:solidFill>
                <a:latin typeface="Cambria Math"/>
              </a:rPr>
              <a:t>x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3D4F6F"/>
                </a:solidFill>
                <a:latin typeface="Calibri"/>
              </a:rPr>
              <a:t>CPU-only constraint → Lightweight arch (emb=32, depth=2)</a:t>
            </a:r>
          </a:p>
          <a:p>
            <a:pPr marL="228600" indent="-228600">
              <a:spcAft>
                <a:spcPts val="400"/>
              </a:spcAft>
              <a:buFont typeface="Arial"/>
              <a:buChar char="•"/>
            </a:pPr>
            <a:r>
              <a:rPr lang="en-US" sz="1300" dirty="0">
                <a:solidFill>
                  <a:srgbClr val="3D4F6F"/>
                </a:solidFill>
                <a:latin typeface="Calibri"/>
              </a:rPr>
              <a:t>log_var head init → Zeros weight + bias = −2.0</a:t>
            </a:r>
          </a:p>
          <a:p>
            <a:pPr marL="228600" indent="-228600">
              <a:buFont typeface="Arial"/>
              <a:buChar char="•"/>
            </a:pPr>
            <a:r>
              <a:rPr lang="en-US" sz="1300" dirty="0">
                <a:solidFill>
                  <a:srgbClr val="3D4F6F"/>
                </a:solidFill>
                <a:latin typeface="Calibri"/>
              </a:rPr>
              <a:t>No sklearn/timm deps → Custom StandardScaler + DropPath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1B42C50-DC31-4630-BCD1-E5F0A47B2A4D}"/>
              </a:ext>
            </a:extLst>
          </p:cNvPr>
          <p:cNvSpPr txBox="1"/>
          <p:nvPr/>
        </p:nvSpPr>
        <p:spPr>
          <a:xfrm>
            <a:off x="635000" y="4826000"/>
            <a:ext cx="381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9BA7B4"/>
                </a:solidFill>
                <a:latin typeface="Calibri"/>
                <a:ea typeface="Calibri"/>
                <a:cs typeface="Calibri"/>
              </a:rPr>
              <a:t>ProbTSLANet — Progress</a:t>
            </a:r>
            <a:endParaRPr lang="zh-CN" altLang="en-US" sz="1400">
              <a:solidFill>
                <a:srgbClr val="9BA7B4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2894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>
            <a:extLst>
              <a:ext uri="{FF2B5EF4-FFF2-40B4-BE49-F238E27FC236}">
                <a16:creationId xmlns:a16="http://schemas.microsoft.com/office/drawing/2014/main" id="{5C19E721-9907-4352-BF60-D64DFED7E1AB}"/>
              </a:ext>
            </a:extLst>
          </p:cNvPr>
          <p:cNvSpPr txBox="1"/>
          <p:nvPr/>
        </p:nvSpPr>
        <p:spPr>
          <a:xfrm>
            <a:off x="635000" y="254000"/>
            <a:ext cx="7874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2400" b="1">
                <a:solidFill>
                  <a:srgbClr val="1B2A4A"/>
                </a:solidFill>
                <a:latin typeface="Georgia"/>
              </a:rPr>
              <a:t>Summary</a:t>
            </a:r>
            <a:endParaRPr lang="zh-CN" altLang="en-US" sz="2400" b="1">
              <a:solidFill>
                <a:srgbClr val="1B2A4A"/>
              </a:solidFill>
              <a:latin typeface="Georgia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42A906-43F2-4BC9-8533-332A43964FEE}"/>
              </a:ext>
            </a:extLst>
          </p:cNvPr>
          <p:cNvSpPr/>
          <p:nvPr/>
        </p:nvSpPr>
        <p:spPr>
          <a:xfrm>
            <a:off x="635000" y="825500"/>
            <a:ext cx="1016000" cy="381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9006844-875B-4B60-96FC-344B5A1F6C1F}"/>
              </a:ext>
            </a:extLst>
          </p:cNvPr>
          <p:cNvSpPr txBox="1"/>
          <p:nvPr/>
        </p:nvSpPr>
        <p:spPr>
          <a:xfrm>
            <a:off x="635000" y="990600"/>
            <a:ext cx="787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i="1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ProbTSLANet extends TSLANet with principled uncertainty quantification for time series forecasting</a:t>
            </a:r>
            <a:endParaRPr lang="zh-CN" altLang="en-US" sz="1500" i="1">
              <a:solidFill>
                <a:srgbClr val="3D4F6F"/>
              </a:solidFill>
              <a:latin typeface="Calibri"/>
              <a:cs typeface="Calibr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D3F582C-38CE-4261-B1C2-BE62802A27E4}"/>
              </a:ext>
            </a:extLst>
          </p:cNvPr>
          <p:cNvSpPr/>
          <p:nvPr/>
        </p:nvSpPr>
        <p:spPr>
          <a:xfrm>
            <a:off x="635000" y="1524000"/>
            <a:ext cx="3810000" cy="11430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76CE29-A7A8-4491-8BCC-461642D825C2}"/>
              </a:ext>
            </a:extLst>
          </p:cNvPr>
          <p:cNvSpPr/>
          <p:nvPr/>
        </p:nvSpPr>
        <p:spPr>
          <a:xfrm>
            <a:off x="635000" y="1524000"/>
            <a:ext cx="50800" cy="1143000"/>
          </a:xfrm>
          <a:prstGeom prst="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CC0DFD0-20E7-4643-A047-0CD5D8B1C6F3}"/>
              </a:ext>
            </a:extLst>
          </p:cNvPr>
          <p:cNvSpPr txBox="1"/>
          <p:nvPr/>
        </p:nvSpPr>
        <p:spPr>
          <a:xfrm>
            <a:off x="812800" y="1651000"/>
            <a:ext cx="3505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2B5797"/>
                </a:solidFill>
                <a:latin typeface="Georgia"/>
              </a:rPr>
              <a:t>Architecture</a:t>
            </a:r>
            <a:endParaRPr lang="zh-CN" altLang="en-US" sz="1500" b="1">
              <a:solidFill>
                <a:srgbClr val="2B5797"/>
              </a:solidFill>
              <a:latin typeface="Georgia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D36EC14B-FB19-4B98-8E1B-36DEBB658413}"/>
              </a:ext>
            </a:extLst>
          </p:cNvPr>
          <p:cNvSpPr txBox="1"/>
          <p:nvPr/>
        </p:nvSpPr>
        <p:spPr>
          <a:xfrm>
            <a:off x="812800" y="1981200"/>
            <a:ext cx="3505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TSLANet backbone with ASB (spectral) + ICB (convolutional) for rich temporal features</a:t>
            </a:r>
            <a:endParaRPr lang="zh-CN" altLang="en-US" sz="1400">
              <a:solidFill>
                <a:srgbClr val="3D4F6F"/>
              </a:solidFill>
              <a:latin typeface="Calibri"/>
              <a:cs typeface="Calibri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539AF7C6-2FF4-496C-A90F-E667C8230D27}"/>
              </a:ext>
            </a:extLst>
          </p:cNvPr>
          <p:cNvSpPr/>
          <p:nvPr/>
        </p:nvSpPr>
        <p:spPr>
          <a:xfrm>
            <a:off x="4699000" y="1524000"/>
            <a:ext cx="3810000" cy="11430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54917D9-44B8-4080-B038-3B1E42A431EC}"/>
              </a:ext>
            </a:extLst>
          </p:cNvPr>
          <p:cNvSpPr/>
          <p:nvPr/>
        </p:nvSpPr>
        <p:spPr>
          <a:xfrm>
            <a:off x="4699000" y="1524000"/>
            <a:ext cx="50800" cy="1143000"/>
          </a:xfrm>
          <a:prstGeom prst="rect">
            <a:avLst/>
          </a:prstGeom>
          <a:solidFill>
            <a:srgbClr val="E67E2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1EDCE25-719A-43B8-B72A-BE72E847AD52}"/>
              </a:ext>
            </a:extLst>
          </p:cNvPr>
          <p:cNvSpPr txBox="1"/>
          <p:nvPr/>
        </p:nvSpPr>
        <p:spPr>
          <a:xfrm>
            <a:off x="4876800" y="1651000"/>
            <a:ext cx="3505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E67E22"/>
                </a:solidFill>
                <a:latin typeface="Georgia"/>
              </a:rPr>
              <a:t>Ablation Study</a:t>
            </a:r>
            <a:endParaRPr lang="zh-CN" altLang="en-US" sz="1500" b="1">
              <a:solidFill>
                <a:srgbClr val="E67E22"/>
              </a:solidFill>
              <a:latin typeface="Georgi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2E6BFFD-AA73-4112-84EC-2308A739254E}"/>
              </a:ext>
            </a:extLst>
          </p:cNvPr>
          <p:cNvSpPr txBox="1"/>
          <p:nvPr/>
        </p:nvSpPr>
        <p:spPr>
          <a:xfrm>
            <a:off x="4876800" y="1981200"/>
            <a:ext cx="3505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4-config ablation (A1–A4) isolates aleatoric vs epistemic contributions</a:t>
            </a:r>
            <a:endParaRPr lang="zh-CN" altLang="en-US" sz="1400">
              <a:solidFill>
                <a:srgbClr val="3D4F6F"/>
              </a:solidFill>
              <a:latin typeface="Calibri"/>
              <a:cs typeface="Calibri"/>
            </a:endParaRP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D765FD6-9BA5-4D5C-B774-965EB8C7A7B9}"/>
              </a:ext>
            </a:extLst>
          </p:cNvPr>
          <p:cNvSpPr/>
          <p:nvPr/>
        </p:nvSpPr>
        <p:spPr>
          <a:xfrm>
            <a:off x="635000" y="2844800"/>
            <a:ext cx="3810000" cy="11430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FB37C4-0058-49BA-8114-F710A92F52C2}"/>
              </a:ext>
            </a:extLst>
          </p:cNvPr>
          <p:cNvSpPr/>
          <p:nvPr/>
        </p:nvSpPr>
        <p:spPr>
          <a:xfrm>
            <a:off x="635000" y="2844800"/>
            <a:ext cx="50800" cy="1143000"/>
          </a:xfrm>
          <a:prstGeom prst="rect">
            <a:avLst/>
          </a:prstGeom>
          <a:solidFill>
            <a:srgbClr val="1A7A5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CA0A304-E7EF-476F-B4B1-32E690B300EC}"/>
              </a:ext>
            </a:extLst>
          </p:cNvPr>
          <p:cNvSpPr txBox="1"/>
          <p:nvPr/>
        </p:nvSpPr>
        <p:spPr>
          <a:xfrm>
            <a:off x="812800" y="2971800"/>
            <a:ext cx="3505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1A7A5C"/>
                </a:solidFill>
                <a:latin typeface="Georgia"/>
              </a:rPr>
              <a:t>Evaluation</a:t>
            </a:r>
            <a:endParaRPr lang="zh-CN" altLang="en-US" sz="1500" b="1">
              <a:solidFill>
                <a:srgbClr val="1A7A5C"/>
              </a:solidFill>
              <a:latin typeface="Georgi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14E277A-67D5-44B6-9681-B4695BADBED9}"/>
              </a:ext>
            </a:extLst>
          </p:cNvPr>
          <p:cNvSpPr txBox="1"/>
          <p:nvPr/>
        </p:nvSpPr>
        <p:spPr>
          <a:xfrm>
            <a:off x="812800" y="3302000"/>
            <a:ext cx="3505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Comprehensive metrics (NLL, CRPS, calibration) + 4 diagnostic visualisations</a:t>
            </a:r>
            <a:endParaRPr lang="zh-CN" altLang="en-US" sz="1400">
              <a:solidFill>
                <a:srgbClr val="3D4F6F"/>
              </a:solidFill>
              <a:latin typeface="Calibri"/>
              <a:cs typeface="Calibri"/>
            </a:endParaRP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5CC110EA-68B1-47B2-819A-296161EC9F93}"/>
              </a:ext>
            </a:extLst>
          </p:cNvPr>
          <p:cNvSpPr/>
          <p:nvPr/>
        </p:nvSpPr>
        <p:spPr>
          <a:xfrm>
            <a:off x="4699000" y="2844800"/>
            <a:ext cx="3810000" cy="1143000"/>
          </a:xfrm>
          <a:prstGeom prst="roundRect">
            <a:avLst/>
          </a:prstGeom>
          <a:solidFill>
            <a:srgbClr val="F2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E2778FB5-D933-4911-A75B-BB1BD71B2612}"/>
              </a:ext>
            </a:extLst>
          </p:cNvPr>
          <p:cNvSpPr/>
          <p:nvPr/>
        </p:nvSpPr>
        <p:spPr>
          <a:xfrm>
            <a:off x="4699000" y="2844800"/>
            <a:ext cx="50800" cy="1143000"/>
          </a:xfrm>
          <a:prstGeom prst="rect">
            <a:avLst/>
          </a:prstGeom>
          <a:solidFill>
            <a:srgbClr val="6C5B7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B7BCF6A-8C76-4326-A45C-1FA19F6CA373}"/>
              </a:ext>
            </a:extLst>
          </p:cNvPr>
          <p:cNvSpPr txBox="1"/>
          <p:nvPr/>
        </p:nvSpPr>
        <p:spPr>
          <a:xfrm>
            <a:off x="4876800" y="2971800"/>
            <a:ext cx="3505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500" b="1">
                <a:solidFill>
                  <a:srgbClr val="6C5B7B"/>
                </a:solidFill>
                <a:latin typeface="Georgia"/>
              </a:rPr>
              <a:t>Reproducibility</a:t>
            </a:r>
            <a:endParaRPr lang="zh-CN" altLang="en-US" sz="1500" b="1">
              <a:solidFill>
                <a:srgbClr val="6C5B7B"/>
              </a:solidFill>
              <a:latin typeface="Georgia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5382259-FBD1-4A9B-91E0-D66FE9D2847A}"/>
              </a:ext>
            </a:extLst>
          </p:cNvPr>
          <p:cNvSpPr txBox="1"/>
          <p:nvPr/>
        </p:nvSpPr>
        <p:spPr>
          <a:xfrm>
            <a:off x="4876800" y="3302000"/>
            <a:ext cx="35052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3D4F6F"/>
                </a:solidFill>
                <a:latin typeface="Calibri"/>
                <a:ea typeface="Calibri"/>
                <a:cs typeface="Calibri"/>
              </a:rPr>
              <a:t>Fully reproducible: self-contained scripts, CPU-only, 2 extra packages</a:t>
            </a:r>
            <a:endParaRPr lang="zh-CN" altLang="en-US" sz="1400">
              <a:solidFill>
                <a:srgbClr val="3D4F6F"/>
              </a:solidFill>
              <a:latin typeface="Calibri"/>
              <a:cs typeface="Calibri"/>
            </a:endParaRPr>
          </a:p>
        </p:txBody>
      </p: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3CAB6800-6065-49EC-92AD-C7C3440B86DE}"/>
              </a:ext>
            </a:extLst>
          </p:cNvPr>
          <p:cNvSpPr/>
          <p:nvPr/>
        </p:nvSpPr>
        <p:spPr>
          <a:xfrm>
            <a:off x="635000" y="4191000"/>
            <a:ext cx="7874000" cy="533400"/>
          </a:xfrm>
          <a:prstGeom prst="roundRect">
            <a:avLst/>
          </a:prstGeom>
          <a:solidFill>
            <a:srgbClr val="2B579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C6D3EC6F-B4A9-498A-9270-4DD6DC452821}"/>
              </a:ext>
            </a:extLst>
          </p:cNvPr>
          <p:cNvSpPr txBox="1"/>
          <p:nvPr/>
        </p:nvSpPr>
        <p:spPr>
          <a:xfrm>
            <a:off x="635000" y="4191000"/>
            <a:ext cx="7874000" cy="533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spAutoFit/>
          </a:bodyPr>
          <a:lstStyle/>
          <a:p>
            <a:pPr algn="l"/>
            <a:r>
              <a:rPr lang="en-US" altLang="zh-CN" sz="2000" b="1">
                <a:solidFill>
                  <a:srgbClr val="FFFFFF"/>
                </a:solidFill>
                <a:latin typeface="Georgia"/>
              </a:rPr>
              <a:t>Questions &amp; Discussion</a:t>
            </a:r>
            <a:endParaRPr lang="zh-CN" altLang="en-US" sz="2000" b="1">
              <a:solidFill>
                <a:srgbClr val="FFFFFF"/>
              </a:solidFill>
              <a:latin typeface="Georgia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A44F269-ED01-4D4F-A017-C12706C468DD}"/>
              </a:ext>
            </a:extLst>
          </p:cNvPr>
          <p:cNvSpPr txBox="1"/>
          <p:nvPr/>
        </p:nvSpPr>
        <p:spPr>
          <a:xfrm>
            <a:off x="635000" y="4826000"/>
            <a:ext cx="508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CN" sz="1400">
                <a:solidFill>
                  <a:srgbClr val="9BA7B4"/>
                </a:solidFill>
                <a:latin typeface="Calibri"/>
                <a:ea typeface="Calibri"/>
                <a:cs typeface="Calibri"/>
              </a:rPr>
              <a:t>COMP0197 Applied Deep Learning — ProbTSLANet</a:t>
            </a:r>
            <a:endParaRPr lang="zh-CN" altLang="en-US" sz="1400">
              <a:solidFill>
                <a:srgbClr val="9BA7B4"/>
              </a:solidFill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B2A4A"/>
      </a:dk1>
      <a:lt1>
        <a:srgbClr val="FFFFFF"/>
      </a:lt1>
      <a:dk2>
        <a:srgbClr val="3D4F6F"/>
      </a:dk2>
      <a:lt2>
        <a:srgbClr val="F2F4F8"/>
      </a:lt2>
      <a:accent1>
        <a:srgbClr val="2B5797"/>
      </a:accent1>
      <a:accent2>
        <a:srgbClr val="C0392B"/>
      </a:accent2>
      <a:accent3>
        <a:srgbClr val="1A7A5C"/>
      </a:accent3>
      <a:accent4>
        <a:srgbClr val="E67E22"/>
      </a:accent4>
      <a:accent5>
        <a:srgbClr val="6C5B7B"/>
      </a:accent5>
      <a:accent6>
        <a:srgbClr val="34495E"/>
      </a:accent6>
      <a:hlink>
        <a:srgbClr val="0563C1"/>
      </a:hlink>
      <a:folHlink>
        <a:srgbClr val="954F72"/>
      </a:folHlink>
    </a:clrScheme>
    <a:fontScheme name="Office">
      <a:majorFont>
        <a:latin typeface="Georgia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6E5A8C-38A1-4B13-BC1E-5D0C257FFBD6}">
  <we:reference id="wa200010001" version="1.0.0.1" store="en-US" storeType="OMEX"/>
  <we:alternateReferences>
    <we:reference id="wa200010001" version="1.0.0.1" store="en-US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1618</Words>
  <Application>Microsoft Office PowerPoint</Application>
  <PresentationFormat>全屏显示(16:9)</PresentationFormat>
  <Paragraphs>307</Paragraphs>
  <Slides>14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</vt:lpstr>
      <vt:lpstr>Cambria Math</vt:lpstr>
      <vt:lpstr>Consolas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ProbTSLANet: Probabilistic Time Series Forecasting</dc:title>
  <dc:subject>PptxGenJS Presentation</dc:subject>
  <dc:creator>ProbTSLANet Team</dc:creator>
  <cp:lastModifiedBy>书涵 王</cp:lastModifiedBy>
  <cp:revision>4</cp:revision>
  <dcterms:created xsi:type="dcterms:W3CDTF">2026-03-11T22:47:53Z</dcterms:created>
  <dcterms:modified xsi:type="dcterms:W3CDTF">2026-03-21T13:43:57Z</dcterms:modified>
</cp:coreProperties>
</file>